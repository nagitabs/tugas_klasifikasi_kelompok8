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Now Bold" charset="1" panose="020B0804030202020204"/>
      <p:regular r:id="rId19"/>
    </p:embeddedFont>
    <p:embeddedFont>
      <p:font typeface="Helvetica Now Light" charset="1" panose="020B0404030202020204"/>
      <p:regular r:id="rId20"/>
    </p:embeddedFont>
    <p:embeddedFont>
      <p:font typeface="Helvetica Now" charset="1" panose="020B050403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.png" Type="http://schemas.openxmlformats.org/officeDocument/2006/relationships/image"/><Relationship Id="rId6" Target="../media/image20.svg" Type="http://schemas.openxmlformats.org/officeDocument/2006/relationships/image"/><Relationship Id="rId7" Target="../media/image21.jpe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5.png" Type="http://schemas.openxmlformats.org/officeDocument/2006/relationships/image"/><Relationship Id="rId6" Target="../media/image28.svg" Type="http://schemas.openxmlformats.org/officeDocument/2006/relationships/image"/><Relationship Id="rId7" Target="../media/image29.jpe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42.png" Type="http://schemas.openxmlformats.org/officeDocument/2006/relationships/image"/><Relationship Id="rId13" Target="../embeddings/oleObject1.bin" Type="http://schemas.openxmlformats.org/officeDocument/2006/relationships/oleObject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5.png" Type="http://schemas.openxmlformats.org/officeDocument/2006/relationships/image"/><Relationship Id="rId6" Target="../media/image38.svg" Type="http://schemas.openxmlformats.org/officeDocument/2006/relationships/image"/><Relationship Id="rId7" Target="../media/image39.jpe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43.svg" Type="http://schemas.openxmlformats.org/officeDocument/2006/relationships/image"/><Relationship Id="rId5" Target="../media/image44.jpe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5.png" Type="http://schemas.openxmlformats.org/officeDocument/2006/relationships/image"/><Relationship Id="rId6" Target="../media/image28.svg" Type="http://schemas.openxmlformats.org/officeDocument/2006/relationships/image"/><Relationship Id="rId7" Target="../media/image29.jpe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57.png" Type="http://schemas.openxmlformats.org/officeDocument/2006/relationships/image"/><Relationship Id="rId13" Target="../embeddings/oleObject2.bin" Type="http://schemas.openxmlformats.org/officeDocument/2006/relationships/oleObject"/><Relationship Id="rId2" Target="../media/image1.jpe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.png" Type="http://schemas.openxmlformats.org/officeDocument/2006/relationships/image"/><Relationship Id="rId6" Target="../media/image53.svg" Type="http://schemas.openxmlformats.org/officeDocument/2006/relationships/image"/><Relationship Id="rId7" Target="../media/image54.jpe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3.bin" Type="http://schemas.openxmlformats.org/officeDocument/2006/relationships/oleObject"/><Relationship Id="rId2" Target="../media/image1.jpe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sv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13" Target="../media/image68.png" Type="http://schemas.openxmlformats.org/officeDocument/2006/relationships/image"/><Relationship Id="rId2" Target="../media/image1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5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3.png" Type="http://schemas.openxmlformats.org/officeDocument/2006/relationships/image"/><Relationship Id="rId8" Target="../media/image74.sv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5.png" Type="http://schemas.openxmlformats.org/officeDocument/2006/relationships/image"/><Relationship Id="rId6" Target="../media/image28.svg" Type="http://schemas.openxmlformats.org/officeDocument/2006/relationships/image"/><Relationship Id="rId7" Target="../media/image29.jpe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7.png" Type="http://schemas.openxmlformats.org/officeDocument/2006/relationships/image"/><Relationship Id="rId4" Target="../media/image78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83415" y="8026018"/>
            <a:ext cx="4561093" cy="1059895"/>
            <a:chOff x="0" y="0"/>
            <a:chExt cx="1509496" cy="3507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819" y="0"/>
              <a:ext cx="1477859" cy="350773"/>
            </a:xfrm>
            <a:custGeom>
              <a:avLst/>
              <a:gdLst/>
              <a:ahLst/>
              <a:cxnLst/>
              <a:rect r="r" b="b" t="t" l="l"/>
              <a:pathLst>
                <a:path h="350773" w="1477859">
                  <a:moveTo>
                    <a:pt x="1253135" y="0"/>
                  </a:moveTo>
                  <a:lnTo>
                    <a:pt x="21523" y="0"/>
                  </a:lnTo>
                  <a:cubicBezTo>
                    <a:pt x="13828" y="0"/>
                    <a:pt x="6718" y="4108"/>
                    <a:pt x="2876" y="10775"/>
                  </a:cubicBezTo>
                  <a:cubicBezTo>
                    <a:pt x="-967" y="17442"/>
                    <a:pt x="-958" y="25654"/>
                    <a:pt x="2899" y="32312"/>
                  </a:cubicBezTo>
                  <a:lnTo>
                    <a:pt x="168663" y="318461"/>
                  </a:lnTo>
                  <a:cubicBezTo>
                    <a:pt x="180248" y="338460"/>
                    <a:pt x="201611" y="350773"/>
                    <a:pt x="224723" y="350773"/>
                  </a:cubicBezTo>
                  <a:lnTo>
                    <a:pt x="1456335" y="350773"/>
                  </a:lnTo>
                  <a:cubicBezTo>
                    <a:pt x="1464030" y="350773"/>
                    <a:pt x="1471140" y="346665"/>
                    <a:pt x="1474983" y="339998"/>
                  </a:cubicBezTo>
                  <a:cubicBezTo>
                    <a:pt x="1478825" y="333331"/>
                    <a:pt x="1478817" y="325119"/>
                    <a:pt x="1474959" y="318461"/>
                  </a:cubicBezTo>
                  <a:lnTo>
                    <a:pt x="1309196" y="32312"/>
                  </a:lnTo>
                  <a:cubicBezTo>
                    <a:pt x="1297610" y="12313"/>
                    <a:pt x="1276248" y="0"/>
                    <a:pt x="1253135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85725"/>
              <a:ext cx="1306296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68640" y="8500086"/>
            <a:ext cx="10170024" cy="2502071"/>
            <a:chOff x="0" y="0"/>
            <a:chExt cx="1425767" cy="3507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095" y="0"/>
              <a:ext cx="1411578" cy="350773"/>
            </a:xfrm>
            <a:custGeom>
              <a:avLst/>
              <a:gdLst/>
              <a:ahLst/>
              <a:cxnLst/>
              <a:rect r="r" b="b" t="t" l="l"/>
              <a:pathLst>
                <a:path h="350773" w="1411578">
                  <a:moveTo>
                    <a:pt x="1198724" y="0"/>
                  </a:moveTo>
                  <a:lnTo>
                    <a:pt x="9652" y="0"/>
                  </a:lnTo>
                  <a:cubicBezTo>
                    <a:pt x="6201" y="0"/>
                    <a:pt x="3013" y="1842"/>
                    <a:pt x="1289" y="4833"/>
                  </a:cubicBezTo>
                  <a:cubicBezTo>
                    <a:pt x="-434" y="7823"/>
                    <a:pt x="-430" y="11505"/>
                    <a:pt x="1300" y="14492"/>
                  </a:cubicBezTo>
                  <a:lnTo>
                    <a:pt x="187710" y="336282"/>
                  </a:lnTo>
                  <a:cubicBezTo>
                    <a:pt x="192906" y="345251"/>
                    <a:pt x="202487" y="350773"/>
                    <a:pt x="212852" y="350773"/>
                  </a:cubicBezTo>
                  <a:lnTo>
                    <a:pt x="1401925" y="350773"/>
                  </a:lnTo>
                  <a:cubicBezTo>
                    <a:pt x="1405376" y="350773"/>
                    <a:pt x="1408564" y="348931"/>
                    <a:pt x="1410288" y="345940"/>
                  </a:cubicBezTo>
                  <a:cubicBezTo>
                    <a:pt x="1412011" y="342950"/>
                    <a:pt x="1412007" y="339268"/>
                    <a:pt x="1410277" y="336282"/>
                  </a:cubicBezTo>
                  <a:lnTo>
                    <a:pt x="1223867" y="14492"/>
                  </a:lnTo>
                  <a:cubicBezTo>
                    <a:pt x="1218671" y="5522"/>
                    <a:pt x="1209090" y="0"/>
                    <a:pt x="1198724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85725"/>
              <a:ext cx="1222567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156201" y="6310814"/>
            <a:ext cx="9658673" cy="5894973"/>
          </a:xfrm>
          <a:custGeom>
            <a:avLst/>
            <a:gdLst/>
            <a:ahLst/>
            <a:cxnLst/>
            <a:rect r="r" b="b" t="t" l="l"/>
            <a:pathLst>
              <a:path h="5894973" w="9658673">
                <a:moveTo>
                  <a:pt x="0" y="0"/>
                </a:moveTo>
                <a:lnTo>
                  <a:pt x="9658674" y="0"/>
                </a:lnTo>
                <a:lnTo>
                  <a:pt x="9658674" y="5894972"/>
                </a:lnTo>
                <a:lnTo>
                  <a:pt x="0" y="5894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-32356" b="-39603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990315" y="1632219"/>
            <a:ext cx="7824461" cy="6724146"/>
            <a:chOff x="0" y="0"/>
            <a:chExt cx="8128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872" y="0"/>
              <a:ext cx="801057" cy="698500"/>
            </a:xfrm>
            <a:custGeom>
              <a:avLst/>
              <a:gdLst/>
              <a:ahLst/>
              <a:cxnLst/>
              <a:rect r="r" b="b" t="t" l="l"/>
              <a:pathLst>
                <a:path h="698500" w="801057">
                  <a:moveTo>
                    <a:pt x="795981" y="368065"/>
                  </a:moveTo>
                  <a:lnTo>
                    <a:pt x="614675" y="679685"/>
                  </a:lnTo>
                  <a:cubicBezTo>
                    <a:pt x="607897" y="691334"/>
                    <a:pt x="595437" y="698500"/>
                    <a:pt x="581960" y="698500"/>
                  </a:cubicBezTo>
                  <a:lnTo>
                    <a:pt x="219096" y="698500"/>
                  </a:lnTo>
                  <a:cubicBezTo>
                    <a:pt x="205619" y="698500"/>
                    <a:pt x="193159" y="691334"/>
                    <a:pt x="186381" y="679685"/>
                  </a:cubicBezTo>
                  <a:lnTo>
                    <a:pt x="5075" y="368065"/>
                  </a:lnTo>
                  <a:cubicBezTo>
                    <a:pt x="-1692" y="356434"/>
                    <a:pt x="-1692" y="342066"/>
                    <a:pt x="5075" y="330435"/>
                  </a:cubicBezTo>
                  <a:lnTo>
                    <a:pt x="186381" y="18815"/>
                  </a:lnTo>
                  <a:cubicBezTo>
                    <a:pt x="193159" y="7166"/>
                    <a:pt x="205619" y="0"/>
                    <a:pt x="219096" y="0"/>
                  </a:cubicBezTo>
                  <a:lnTo>
                    <a:pt x="581960" y="0"/>
                  </a:lnTo>
                  <a:cubicBezTo>
                    <a:pt x="595437" y="0"/>
                    <a:pt x="607897" y="7166"/>
                    <a:pt x="614675" y="18815"/>
                  </a:cubicBezTo>
                  <a:lnTo>
                    <a:pt x="795981" y="330435"/>
                  </a:lnTo>
                  <a:cubicBezTo>
                    <a:pt x="802748" y="342066"/>
                    <a:pt x="802748" y="356434"/>
                    <a:pt x="795981" y="368065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308362" y="-377062"/>
            <a:ext cx="2887027" cy="1072136"/>
            <a:chOff x="0" y="0"/>
            <a:chExt cx="944555" cy="3507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4992" y="0"/>
              <a:ext cx="894572" cy="350773"/>
            </a:xfrm>
            <a:custGeom>
              <a:avLst/>
              <a:gdLst/>
              <a:ahLst/>
              <a:cxnLst/>
              <a:rect r="r" b="b" t="t" l="l"/>
              <a:pathLst>
                <a:path h="350773" w="894572">
                  <a:moveTo>
                    <a:pt x="657368" y="0"/>
                  </a:moveTo>
                  <a:lnTo>
                    <a:pt x="34004" y="0"/>
                  </a:lnTo>
                  <a:cubicBezTo>
                    <a:pt x="21846" y="0"/>
                    <a:pt x="10614" y="6490"/>
                    <a:pt x="4543" y="17023"/>
                  </a:cubicBezTo>
                  <a:cubicBezTo>
                    <a:pt x="-1528" y="27556"/>
                    <a:pt x="-1514" y="40529"/>
                    <a:pt x="4580" y="51049"/>
                  </a:cubicBezTo>
                  <a:lnTo>
                    <a:pt x="148636" y="299724"/>
                  </a:lnTo>
                  <a:cubicBezTo>
                    <a:pt x="166939" y="331320"/>
                    <a:pt x="200689" y="350773"/>
                    <a:pt x="237204" y="350773"/>
                  </a:cubicBezTo>
                  <a:lnTo>
                    <a:pt x="860568" y="350773"/>
                  </a:lnTo>
                  <a:cubicBezTo>
                    <a:pt x="872725" y="350773"/>
                    <a:pt x="883957" y="344283"/>
                    <a:pt x="890028" y="333750"/>
                  </a:cubicBezTo>
                  <a:cubicBezTo>
                    <a:pt x="896099" y="323217"/>
                    <a:pt x="896085" y="310244"/>
                    <a:pt x="889991" y="299724"/>
                  </a:cubicBezTo>
                  <a:lnTo>
                    <a:pt x="745935" y="51049"/>
                  </a:lnTo>
                  <a:cubicBezTo>
                    <a:pt x="727632" y="19453"/>
                    <a:pt x="693882" y="0"/>
                    <a:pt x="657368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85725"/>
              <a:ext cx="741355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3608516">
            <a:off x="9504427" y="-1110404"/>
            <a:ext cx="3303549" cy="2130853"/>
            <a:chOff x="0" y="0"/>
            <a:chExt cx="543818" cy="3507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1841" y="0"/>
              <a:ext cx="500136" cy="350773"/>
            </a:xfrm>
            <a:custGeom>
              <a:avLst/>
              <a:gdLst/>
              <a:ahLst/>
              <a:cxnLst/>
              <a:rect r="r" b="b" t="t" l="l"/>
              <a:pathLst>
                <a:path h="350773" w="500136">
                  <a:moveTo>
                    <a:pt x="267219" y="0"/>
                  </a:moveTo>
                  <a:lnTo>
                    <a:pt x="29716" y="0"/>
                  </a:lnTo>
                  <a:cubicBezTo>
                    <a:pt x="19092" y="0"/>
                    <a:pt x="9276" y="5672"/>
                    <a:pt x="3970" y="14877"/>
                  </a:cubicBezTo>
                  <a:cubicBezTo>
                    <a:pt x="-1335" y="24082"/>
                    <a:pt x="-1323" y="35419"/>
                    <a:pt x="4003" y="44612"/>
                  </a:cubicBezTo>
                  <a:lnTo>
                    <a:pt x="155515" y="306161"/>
                  </a:lnTo>
                  <a:cubicBezTo>
                    <a:pt x="171511" y="333773"/>
                    <a:pt x="201005" y="350773"/>
                    <a:pt x="232916" y="350773"/>
                  </a:cubicBezTo>
                  <a:lnTo>
                    <a:pt x="470419" y="350773"/>
                  </a:lnTo>
                  <a:cubicBezTo>
                    <a:pt x="481044" y="350773"/>
                    <a:pt x="490860" y="345101"/>
                    <a:pt x="496166" y="335896"/>
                  </a:cubicBezTo>
                  <a:cubicBezTo>
                    <a:pt x="501471" y="326691"/>
                    <a:pt x="501459" y="315354"/>
                    <a:pt x="496133" y="306161"/>
                  </a:cubicBezTo>
                  <a:lnTo>
                    <a:pt x="344620" y="44612"/>
                  </a:lnTo>
                  <a:cubicBezTo>
                    <a:pt x="328625" y="17000"/>
                    <a:pt x="299130" y="0"/>
                    <a:pt x="267219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85725"/>
              <a:ext cx="340618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322953" y="-1200363"/>
            <a:ext cx="7604510" cy="10608781"/>
            <a:chOff x="0" y="0"/>
            <a:chExt cx="495702" cy="691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9581" y="0"/>
              <a:ext cx="480027" cy="691537"/>
            </a:xfrm>
            <a:custGeom>
              <a:avLst/>
              <a:gdLst/>
              <a:ahLst/>
              <a:cxnLst/>
              <a:rect r="r" b="b" t="t" l="l"/>
              <a:pathLst>
                <a:path h="691537" w="480027">
                  <a:moveTo>
                    <a:pt x="12817" y="0"/>
                  </a:moveTo>
                  <a:lnTo>
                    <a:pt x="260524" y="0"/>
                  </a:lnTo>
                  <a:cubicBezTo>
                    <a:pt x="274400" y="0"/>
                    <a:pt x="287239" y="7347"/>
                    <a:pt x="294269" y="19310"/>
                  </a:cubicBezTo>
                  <a:lnTo>
                    <a:pt x="474773" y="326459"/>
                  </a:lnTo>
                  <a:cubicBezTo>
                    <a:pt x="481779" y="338379"/>
                    <a:pt x="481779" y="353158"/>
                    <a:pt x="474773" y="365078"/>
                  </a:cubicBezTo>
                  <a:lnTo>
                    <a:pt x="294269" y="672227"/>
                  </a:lnTo>
                  <a:cubicBezTo>
                    <a:pt x="287239" y="684190"/>
                    <a:pt x="274400" y="691537"/>
                    <a:pt x="260524" y="691537"/>
                  </a:cubicBezTo>
                  <a:lnTo>
                    <a:pt x="12817" y="691537"/>
                  </a:lnTo>
                  <a:cubicBezTo>
                    <a:pt x="8220" y="691537"/>
                    <a:pt x="3976" y="689075"/>
                    <a:pt x="1693" y="685086"/>
                  </a:cubicBezTo>
                  <a:cubicBezTo>
                    <a:pt x="-590" y="681096"/>
                    <a:pt x="-562" y="676190"/>
                    <a:pt x="1767" y="672227"/>
                  </a:cubicBezTo>
                  <a:lnTo>
                    <a:pt x="182271" y="365078"/>
                  </a:lnTo>
                  <a:cubicBezTo>
                    <a:pt x="189276" y="353158"/>
                    <a:pt x="189276" y="338379"/>
                    <a:pt x="182271" y="326459"/>
                  </a:cubicBezTo>
                  <a:lnTo>
                    <a:pt x="1767" y="19310"/>
                  </a:lnTo>
                  <a:cubicBezTo>
                    <a:pt x="-562" y="15347"/>
                    <a:pt x="-590" y="10441"/>
                    <a:pt x="1693" y="6451"/>
                  </a:cubicBezTo>
                  <a:cubicBezTo>
                    <a:pt x="3976" y="2461"/>
                    <a:pt x="8220" y="0"/>
                    <a:pt x="12817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85725"/>
              <a:ext cx="241702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15353478" y="9689491"/>
            <a:ext cx="7051366" cy="2093838"/>
            <a:chOff x="0" y="0"/>
            <a:chExt cx="2328871" cy="6915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0333" y="0"/>
              <a:ext cx="2311967" cy="691537"/>
            </a:xfrm>
            <a:custGeom>
              <a:avLst/>
              <a:gdLst/>
              <a:ahLst/>
              <a:cxnLst/>
              <a:rect r="r" b="b" t="t" l="l"/>
              <a:pathLst>
                <a:path h="691537" w="2311967">
                  <a:moveTo>
                    <a:pt x="13822" y="0"/>
                  </a:moveTo>
                  <a:lnTo>
                    <a:pt x="2091184" y="0"/>
                  </a:lnTo>
                  <a:cubicBezTo>
                    <a:pt x="2106148" y="0"/>
                    <a:pt x="2119995" y="7923"/>
                    <a:pt x="2127577" y="20825"/>
                  </a:cubicBezTo>
                  <a:lnTo>
                    <a:pt x="2306300" y="324944"/>
                  </a:lnTo>
                  <a:cubicBezTo>
                    <a:pt x="2313855" y="337799"/>
                    <a:pt x="2313855" y="353738"/>
                    <a:pt x="2306300" y="366593"/>
                  </a:cubicBezTo>
                  <a:lnTo>
                    <a:pt x="2127577" y="670712"/>
                  </a:lnTo>
                  <a:cubicBezTo>
                    <a:pt x="2119995" y="683614"/>
                    <a:pt x="2106148" y="691537"/>
                    <a:pt x="2091184" y="691537"/>
                  </a:cubicBezTo>
                  <a:lnTo>
                    <a:pt x="13822" y="691537"/>
                  </a:lnTo>
                  <a:cubicBezTo>
                    <a:pt x="8864" y="691537"/>
                    <a:pt x="4287" y="688882"/>
                    <a:pt x="1825" y="684580"/>
                  </a:cubicBezTo>
                  <a:cubicBezTo>
                    <a:pt x="-637" y="680277"/>
                    <a:pt x="-606" y="674986"/>
                    <a:pt x="1905" y="670712"/>
                  </a:cubicBezTo>
                  <a:lnTo>
                    <a:pt x="180629" y="366593"/>
                  </a:lnTo>
                  <a:cubicBezTo>
                    <a:pt x="188184" y="353738"/>
                    <a:pt x="188184" y="337799"/>
                    <a:pt x="180629" y="324944"/>
                  </a:cubicBezTo>
                  <a:lnTo>
                    <a:pt x="1905" y="20825"/>
                  </a:lnTo>
                  <a:cubicBezTo>
                    <a:pt x="-606" y="16551"/>
                    <a:pt x="-637" y="11260"/>
                    <a:pt x="1825" y="6957"/>
                  </a:cubicBezTo>
                  <a:cubicBezTo>
                    <a:pt x="4287" y="2655"/>
                    <a:pt x="8864" y="0"/>
                    <a:pt x="13822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85725"/>
              <a:ext cx="2074871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143648" y="3565689"/>
            <a:ext cx="0" cy="3655307"/>
          </a:xfrm>
          <a:prstGeom prst="line">
            <a:avLst/>
          </a:prstGeom>
          <a:ln cap="flat" w="47625">
            <a:solidFill>
              <a:srgbClr val="5475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1822119" y="-245412"/>
            <a:ext cx="2493589" cy="1717049"/>
          </a:xfrm>
          <a:custGeom>
            <a:avLst/>
            <a:gdLst/>
            <a:ahLst/>
            <a:cxnLst/>
            <a:rect r="r" b="b" t="t" l="l"/>
            <a:pathLst>
              <a:path h="1717049" w="2493589">
                <a:moveTo>
                  <a:pt x="0" y="0"/>
                </a:moveTo>
                <a:lnTo>
                  <a:pt x="2493589" y="0"/>
                </a:lnTo>
                <a:lnTo>
                  <a:pt x="2493589" y="1717049"/>
                </a:lnTo>
                <a:lnTo>
                  <a:pt x="0" y="1717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631" t="-82572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456833" y="2445915"/>
            <a:ext cx="7309528" cy="6715629"/>
          </a:xfrm>
          <a:custGeom>
            <a:avLst/>
            <a:gdLst/>
            <a:ahLst/>
            <a:cxnLst/>
            <a:rect r="r" b="b" t="t" l="l"/>
            <a:pathLst>
              <a:path h="6715629" w="7309528">
                <a:moveTo>
                  <a:pt x="0" y="0"/>
                </a:moveTo>
                <a:lnTo>
                  <a:pt x="7309528" y="0"/>
                </a:lnTo>
                <a:lnTo>
                  <a:pt x="7309528" y="6715629"/>
                </a:lnTo>
                <a:lnTo>
                  <a:pt x="0" y="6715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536716" y="1924466"/>
            <a:ext cx="8424399" cy="6139652"/>
            <a:chOff x="0" y="0"/>
            <a:chExt cx="958433" cy="69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454" y="0"/>
              <a:ext cx="947526" cy="698500"/>
            </a:xfrm>
            <a:custGeom>
              <a:avLst/>
              <a:gdLst/>
              <a:ahLst/>
              <a:cxnLst/>
              <a:rect r="r" b="b" t="t" l="l"/>
              <a:pathLst>
                <a:path h="698500" w="947526">
                  <a:moveTo>
                    <a:pt x="942811" y="366725"/>
                  </a:moveTo>
                  <a:lnTo>
                    <a:pt x="759946" y="681025"/>
                  </a:lnTo>
                  <a:cubicBezTo>
                    <a:pt x="753651" y="691844"/>
                    <a:pt x="742078" y="698500"/>
                    <a:pt x="729561" y="698500"/>
                  </a:cubicBezTo>
                  <a:lnTo>
                    <a:pt x="217964" y="698500"/>
                  </a:lnTo>
                  <a:cubicBezTo>
                    <a:pt x="205446" y="698500"/>
                    <a:pt x="193873" y="691844"/>
                    <a:pt x="187579" y="681025"/>
                  </a:cubicBezTo>
                  <a:lnTo>
                    <a:pt x="4713" y="366725"/>
                  </a:lnTo>
                  <a:cubicBezTo>
                    <a:pt x="-1572" y="355923"/>
                    <a:pt x="-1572" y="342577"/>
                    <a:pt x="4713" y="331775"/>
                  </a:cubicBezTo>
                  <a:lnTo>
                    <a:pt x="187579" y="17475"/>
                  </a:lnTo>
                  <a:cubicBezTo>
                    <a:pt x="193873" y="6656"/>
                    <a:pt x="205446" y="0"/>
                    <a:pt x="217964" y="0"/>
                  </a:cubicBezTo>
                  <a:lnTo>
                    <a:pt x="729561" y="0"/>
                  </a:lnTo>
                  <a:cubicBezTo>
                    <a:pt x="742078" y="0"/>
                    <a:pt x="753651" y="6656"/>
                    <a:pt x="759946" y="17475"/>
                  </a:cubicBezTo>
                  <a:lnTo>
                    <a:pt x="942811" y="331775"/>
                  </a:lnTo>
                  <a:cubicBezTo>
                    <a:pt x="949096" y="342577"/>
                    <a:pt x="949096" y="355923"/>
                    <a:pt x="942811" y="366725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14300" y="-85725"/>
              <a:ext cx="729833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17369" y="2228889"/>
            <a:ext cx="7663094" cy="5530806"/>
            <a:chOff x="0" y="0"/>
            <a:chExt cx="967792" cy="698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995" y="0"/>
              <a:ext cx="955802" cy="698500"/>
            </a:xfrm>
            <a:custGeom>
              <a:avLst/>
              <a:gdLst/>
              <a:ahLst/>
              <a:cxnLst/>
              <a:rect r="r" b="b" t="t" l="l"/>
              <a:pathLst>
                <a:path h="698500" w="955802">
                  <a:moveTo>
                    <a:pt x="950620" y="368461"/>
                  </a:moveTo>
                  <a:lnTo>
                    <a:pt x="769775" y="679289"/>
                  </a:lnTo>
                  <a:cubicBezTo>
                    <a:pt x="762854" y="691183"/>
                    <a:pt x="750132" y="698500"/>
                    <a:pt x="736371" y="698500"/>
                  </a:cubicBezTo>
                  <a:lnTo>
                    <a:pt x="219431" y="698500"/>
                  </a:lnTo>
                  <a:cubicBezTo>
                    <a:pt x="205671" y="698500"/>
                    <a:pt x="192948" y="691183"/>
                    <a:pt x="186028" y="679289"/>
                  </a:cubicBezTo>
                  <a:lnTo>
                    <a:pt x="5182" y="368461"/>
                  </a:lnTo>
                  <a:cubicBezTo>
                    <a:pt x="-1727" y="356586"/>
                    <a:pt x="-1727" y="341914"/>
                    <a:pt x="5182" y="330039"/>
                  </a:cubicBezTo>
                  <a:lnTo>
                    <a:pt x="186028" y="19211"/>
                  </a:lnTo>
                  <a:cubicBezTo>
                    <a:pt x="192948" y="7317"/>
                    <a:pt x="205671" y="0"/>
                    <a:pt x="219431" y="0"/>
                  </a:cubicBezTo>
                  <a:lnTo>
                    <a:pt x="736371" y="0"/>
                  </a:lnTo>
                  <a:cubicBezTo>
                    <a:pt x="750132" y="0"/>
                    <a:pt x="762854" y="7317"/>
                    <a:pt x="769775" y="19211"/>
                  </a:cubicBezTo>
                  <a:lnTo>
                    <a:pt x="950620" y="330039"/>
                  </a:lnTo>
                  <a:cubicBezTo>
                    <a:pt x="957529" y="341914"/>
                    <a:pt x="957529" y="356586"/>
                    <a:pt x="950620" y="368461"/>
                  </a:cubicBezTo>
                  <a:close/>
                </a:path>
              </a:pathLst>
            </a:custGeom>
            <a:blipFill>
              <a:blip r:embed="rId8"/>
              <a:stretch>
                <a:fillRect l="-627" t="-354" r="-49300" b="-30603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9631966" y="1768591"/>
            <a:ext cx="648190" cy="656395"/>
          </a:xfrm>
          <a:custGeom>
            <a:avLst/>
            <a:gdLst/>
            <a:ahLst/>
            <a:cxnLst/>
            <a:rect r="r" b="b" t="t" l="l"/>
            <a:pathLst>
              <a:path h="656395" w="648190">
                <a:moveTo>
                  <a:pt x="0" y="0"/>
                </a:moveTo>
                <a:lnTo>
                  <a:pt x="648190" y="0"/>
                </a:lnTo>
                <a:lnTo>
                  <a:pt x="648190" y="656394"/>
                </a:lnTo>
                <a:lnTo>
                  <a:pt x="0" y="6563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2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493262" y="-175198"/>
            <a:ext cx="3528684" cy="1862892"/>
          </a:xfrm>
          <a:custGeom>
            <a:avLst/>
            <a:gdLst/>
            <a:ahLst/>
            <a:cxnLst/>
            <a:rect r="r" b="b" t="t" l="l"/>
            <a:pathLst>
              <a:path h="1862892" w="3528684">
                <a:moveTo>
                  <a:pt x="0" y="0"/>
                </a:moveTo>
                <a:lnTo>
                  <a:pt x="3528684" y="0"/>
                </a:lnTo>
                <a:lnTo>
                  <a:pt x="3528684" y="1862892"/>
                </a:lnTo>
                <a:lnTo>
                  <a:pt x="0" y="1862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97312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-583415" y="-1069442"/>
            <a:ext cx="6108877" cy="1384761"/>
            <a:chOff x="0" y="0"/>
            <a:chExt cx="1541443" cy="3494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7225" y="0"/>
              <a:ext cx="1506993" cy="349414"/>
            </a:xfrm>
            <a:custGeom>
              <a:avLst/>
              <a:gdLst/>
              <a:ahLst/>
              <a:cxnLst/>
              <a:rect r="r" b="b" t="t" l="l"/>
              <a:pathLst>
                <a:path h="349414" w="1506993">
                  <a:moveTo>
                    <a:pt x="226529" y="0"/>
                  </a:moveTo>
                  <a:lnTo>
                    <a:pt x="1483664" y="0"/>
                  </a:lnTo>
                  <a:cubicBezTo>
                    <a:pt x="1492011" y="0"/>
                    <a:pt x="1499723" y="4460"/>
                    <a:pt x="1503886" y="11696"/>
                  </a:cubicBezTo>
                  <a:cubicBezTo>
                    <a:pt x="1508048" y="18932"/>
                    <a:pt x="1508027" y="27841"/>
                    <a:pt x="1503831" y="35057"/>
                  </a:cubicBezTo>
                  <a:lnTo>
                    <a:pt x="1341405" y="314357"/>
                  </a:lnTo>
                  <a:cubicBezTo>
                    <a:pt x="1328783" y="336061"/>
                    <a:pt x="1305571" y="349414"/>
                    <a:pt x="1280464" y="349414"/>
                  </a:cubicBezTo>
                  <a:lnTo>
                    <a:pt x="23329" y="349414"/>
                  </a:lnTo>
                  <a:cubicBezTo>
                    <a:pt x="14982" y="349414"/>
                    <a:pt x="7270" y="344954"/>
                    <a:pt x="3107" y="337718"/>
                  </a:cubicBezTo>
                  <a:cubicBezTo>
                    <a:pt x="-1055" y="330482"/>
                    <a:pt x="-1034" y="321573"/>
                    <a:pt x="3162" y="314357"/>
                  </a:cubicBezTo>
                  <a:lnTo>
                    <a:pt x="165588" y="35057"/>
                  </a:lnTo>
                  <a:cubicBezTo>
                    <a:pt x="178210" y="13353"/>
                    <a:pt x="201422" y="0"/>
                    <a:pt x="226529" y="0"/>
                  </a:cubicBezTo>
                  <a:close/>
                </a:path>
              </a:pathLst>
            </a:custGeom>
            <a:solidFill>
              <a:srgbClr val="ECEDEE">
                <a:alpha val="5098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01600" y="-85725"/>
              <a:ext cx="1338243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-583415" y="-933728"/>
            <a:ext cx="3362385" cy="1485368"/>
            <a:chOff x="0" y="0"/>
            <a:chExt cx="1565412" cy="69153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1669" y="0"/>
              <a:ext cx="1529960" cy="691537"/>
            </a:xfrm>
            <a:custGeom>
              <a:avLst/>
              <a:gdLst/>
              <a:ahLst/>
              <a:cxnLst/>
              <a:rect r="r" b="b" t="t" l="l"/>
              <a:pathLst>
                <a:path h="691537" w="1529960">
                  <a:moveTo>
                    <a:pt x="28986" y="0"/>
                  </a:moveTo>
                  <a:lnTo>
                    <a:pt x="1289888" y="0"/>
                  </a:lnTo>
                  <a:cubicBezTo>
                    <a:pt x="1321270" y="0"/>
                    <a:pt x="1350307" y="16616"/>
                    <a:pt x="1366208" y="43672"/>
                  </a:cubicBezTo>
                  <a:lnTo>
                    <a:pt x="1518078" y="302096"/>
                  </a:lnTo>
                  <a:cubicBezTo>
                    <a:pt x="1533921" y="329056"/>
                    <a:pt x="1533921" y="362481"/>
                    <a:pt x="1518078" y="389441"/>
                  </a:cubicBezTo>
                  <a:lnTo>
                    <a:pt x="1366208" y="647865"/>
                  </a:lnTo>
                  <a:cubicBezTo>
                    <a:pt x="1350307" y="674921"/>
                    <a:pt x="1321270" y="691537"/>
                    <a:pt x="1289888" y="691537"/>
                  </a:cubicBezTo>
                  <a:lnTo>
                    <a:pt x="28986" y="691537"/>
                  </a:lnTo>
                  <a:cubicBezTo>
                    <a:pt x="18591" y="691537"/>
                    <a:pt x="8991" y="685970"/>
                    <a:pt x="3828" y="676947"/>
                  </a:cubicBezTo>
                  <a:cubicBezTo>
                    <a:pt x="-1335" y="667924"/>
                    <a:pt x="-1271" y="656827"/>
                    <a:pt x="3996" y="647865"/>
                  </a:cubicBezTo>
                  <a:lnTo>
                    <a:pt x="155866" y="389441"/>
                  </a:lnTo>
                  <a:cubicBezTo>
                    <a:pt x="171709" y="362481"/>
                    <a:pt x="171709" y="329056"/>
                    <a:pt x="155866" y="302096"/>
                  </a:cubicBezTo>
                  <a:lnTo>
                    <a:pt x="3996" y="43672"/>
                  </a:lnTo>
                  <a:cubicBezTo>
                    <a:pt x="-1271" y="34710"/>
                    <a:pt x="-1335" y="23613"/>
                    <a:pt x="3828" y="14590"/>
                  </a:cubicBezTo>
                  <a:cubicBezTo>
                    <a:pt x="8991" y="5567"/>
                    <a:pt x="18591" y="0"/>
                    <a:pt x="2898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77800" y="-85725"/>
              <a:ext cx="1311412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7685212" y="9689491"/>
            <a:ext cx="484503" cy="484503"/>
          </a:xfrm>
          <a:custGeom>
            <a:avLst/>
            <a:gdLst/>
            <a:ahLst/>
            <a:cxnLst/>
            <a:rect r="r" b="b" t="t" l="l"/>
            <a:pathLst>
              <a:path h="484503" w="484503">
                <a:moveTo>
                  <a:pt x="0" y="0"/>
                </a:moveTo>
                <a:lnTo>
                  <a:pt x="484502" y="0"/>
                </a:lnTo>
                <a:lnTo>
                  <a:pt x="484502" y="484502"/>
                </a:lnTo>
                <a:lnTo>
                  <a:pt x="0" y="484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251784" t="-261457" r="-92831" b="-825712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-6658228">
            <a:off x="-765121" y="9068341"/>
            <a:ext cx="2366780" cy="2752069"/>
          </a:xfrm>
          <a:custGeom>
            <a:avLst/>
            <a:gdLst/>
            <a:ahLst/>
            <a:cxnLst/>
            <a:rect r="r" b="b" t="t" l="l"/>
            <a:pathLst>
              <a:path h="2752069" w="2366780">
                <a:moveTo>
                  <a:pt x="0" y="0"/>
                </a:moveTo>
                <a:lnTo>
                  <a:pt x="2366780" y="0"/>
                </a:lnTo>
                <a:lnTo>
                  <a:pt x="2366780" y="2752070"/>
                </a:lnTo>
                <a:lnTo>
                  <a:pt x="0" y="275207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471231" y="3456285"/>
            <a:ext cx="9684971" cy="389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b="true" sz="6773" spc="-203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KLASIFIKASI CITRA SAM</a:t>
            </a:r>
            <a:r>
              <a:rPr lang="en-US" b="true" sz="6773" spc="-203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</a:t>
            </a:r>
            <a:r>
              <a:rPr lang="en-US" b="true" sz="6773" spc="-203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AH MENGGUNAKAN </a:t>
            </a:r>
            <a:r>
              <a:rPr lang="en-US" b="true" sz="6773" spc="-203">
                <a:solidFill>
                  <a:srgbClr val="67898E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ARSITEKTUR MOBILENETV2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81824" y="-692380"/>
            <a:ext cx="4629774" cy="1384761"/>
            <a:chOff x="0" y="0"/>
            <a:chExt cx="1168223" cy="349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626" y="0"/>
              <a:ext cx="1136972" cy="349414"/>
            </a:xfrm>
            <a:custGeom>
              <a:avLst/>
              <a:gdLst/>
              <a:ahLst/>
              <a:cxnLst/>
              <a:rect r="r" b="b" t="t" l="l"/>
              <a:pathLst>
                <a:path h="349414" w="1136972">
                  <a:moveTo>
                    <a:pt x="224362" y="0"/>
                  </a:moveTo>
                  <a:lnTo>
                    <a:pt x="1115809" y="0"/>
                  </a:lnTo>
                  <a:cubicBezTo>
                    <a:pt x="1123381" y="0"/>
                    <a:pt x="1130377" y="4046"/>
                    <a:pt x="1134153" y="10610"/>
                  </a:cubicBezTo>
                  <a:cubicBezTo>
                    <a:pt x="1137929" y="17174"/>
                    <a:pt x="1137910" y="25256"/>
                    <a:pt x="1134103" y="31802"/>
                  </a:cubicBezTo>
                  <a:lnTo>
                    <a:pt x="967891" y="317613"/>
                  </a:lnTo>
                  <a:cubicBezTo>
                    <a:pt x="956442" y="337301"/>
                    <a:pt x="935385" y="349414"/>
                    <a:pt x="912609" y="349414"/>
                  </a:cubicBezTo>
                  <a:lnTo>
                    <a:pt x="21162" y="349414"/>
                  </a:lnTo>
                  <a:cubicBezTo>
                    <a:pt x="13590" y="349414"/>
                    <a:pt x="6594" y="345368"/>
                    <a:pt x="2818" y="338804"/>
                  </a:cubicBezTo>
                  <a:cubicBezTo>
                    <a:pt x="-958" y="332240"/>
                    <a:pt x="-939" y="324159"/>
                    <a:pt x="2868" y="317613"/>
                  </a:cubicBezTo>
                  <a:lnTo>
                    <a:pt x="169080" y="31802"/>
                  </a:lnTo>
                  <a:cubicBezTo>
                    <a:pt x="180530" y="12113"/>
                    <a:pt x="201587" y="0"/>
                    <a:pt x="224362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85725"/>
              <a:ext cx="965023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13033" y="78533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-841829" y="-747645"/>
            <a:ext cx="8185033" cy="9862360"/>
            <a:chOff x="0" y="0"/>
            <a:chExt cx="573925" cy="6915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902" y="0"/>
              <a:ext cx="559361" cy="691537"/>
            </a:xfrm>
            <a:custGeom>
              <a:avLst/>
              <a:gdLst/>
              <a:ahLst/>
              <a:cxnLst/>
              <a:rect r="r" b="b" t="t" l="l"/>
              <a:pathLst>
                <a:path h="691537" w="559361">
                  <a:moveTo>
                    <a:pt x="11907" y="0"/>
                  </a:moveTo>
                  <a:lnTo>
                    <a:pt x="341014" y="0"/>
                  </a:lnTo>
                  <a:cubicBezTo>
                    <a:pt x="353906" y="0"/>
                    <a:pt x="365834" y="6826"/>
                    <a:pt x="372366" y="17940"/>
                  </a:cubicBezTo>
                  <a:lnTo>
                    <a:pt x="554480" y="327828"/>
                  </a:lnTo>
                  <a:cubicBezTo>
                    <a:pt x="560988" y="338903"/>
                    <a:pt x="560988" y="352634"/>
                    <a:pt x="554480" y="363709"/>
                  </a:cubicBezTo>
                  <a:lnTo>
                    <a:pt x="372366" y="673596"/>
                  </a:lnTo>
                  <a:cubicBezTo>
                    <a:pt x="365834" y="684711"/>
                    <a:pt x="353906" y="691537"/>
                    <a:pt x="341014" y="691537"/>
                  </a:cubicBezTo>
                  <a:lnTo>
                    <a:pt x="11907" y="691537"/>
                  </a:lnTo>
                  <a:cubicBezTo>
                    <a:pt x="7636" y="691537"/>
                    <a:pt x="3693" y="689250"/>
                    <a:pt x="1572" y="685543"/>
                  </a:cubicBezTo>
                  <a:cubicBezTo>
                    <a:pt x="-549" y="681837"/>
                    <a:pt x="-523" y="677278"/>
                    <a:pt x="1641" y="673596"/>
                  </a:cubicBezTo>
                  <a:lnTo>
                    <a:pt x="183755" y="363709"/>
                  </a:lnTo>
                  <a:cubicBezTo>
                    <a:pt x="190263" y="352634"/>
                    <a:pt x="190263" y="338903"/>
                    <a:pt x="183755" y="327828"/>
                  </a:cubicBezTo>
                  <a:lnTo>
                    <a:pt x="1641" y="17940"/>
                  </a:lnTo>
                  <a:cubicBezTo>
                    <a:pt x="-523" y="14259"/>
                    <a:pt x="-549" y="9700"/>
                    <a:pt x="1572" y="5993"/>
                  </a:cubicBezTo>
                  <a:cubicBezTo>
                    <a:pt x="3693" y="2287"/>
                    <a:pt x="7636" y="0"/>
                    <a:pt x="11907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85725"/>
              <a:ext cx="319925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5756526" y="-1140558"/>
            <a:ext cx="3189658" cy="1741381"/>
            <a:chOff x="0" y="0"/>
            <a:chExt cx="1266676" cy="6915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2843" y="0"/>
              <a:ext cx="1229305" cy="691537"/>
            </a:xfrm>
            <a:custGeom>
              <a:avLst/>
              <a:gdLst/>
              <a:ahLst/>
              <a:cxnLst/>
              <a:rect r="r" b="b" t="t" l="l"/>
              <a:pathLst>
                <a:path h="691537" w="1229305">
                  <a:moveTo>
                    <a:pt x="30555" y="0"/>
                  </a:moveTo>
                  <a:lnTo>
                    <a:pt x="987235" y="0"/>
                  </a:lnTo>
                  <a:cubicBezTo>
                    <a:pt x="1020317" y="0"/>
                    <a:pt x="1050926" y="17515"/>
                    <a:pt x="1067688" y="46037"/>
                  </a:cubicBezTo>
                  <a:lnTo>
                    <a:pt x="1216778" y="299731"/>
                  </a:lnTo>
                  <a:cubicBezTo>
                    <a:pt x="1233480" y="328151"/>
                    <a:pt x="1233480" y="363386"/>
                    <a:pt x="1216778" y="391805"/>
                  </a:cubicBezTo>
                  <a:lnTo>
                    <a:pt x="1067688" y="645500"/>
                  </a:lnTo>
                  <a:cubicBezTo>
                    <a:pt x="1050926" y="674021"/>
                    <a:pt x="1020317" y="691537"/>
                    <a:pt x="987235" y="691537"/>
                  </a:cubicBezTo>
                  <a:lnTo>
                    <a:pt x="30555" y="691537"/>
                  </a:lnTo>
                  <a:cubicBezTo>
                    <a:pt x="19597" y="691537"/>
                    <a:pt x="9477" y="685668"/>
                    <a:pt x="4035" y="676157"/>
                  </a:cubicBezTo>
                  <a:cubicBezTo>
                    <a:pt x="-1408" y="666645"/>
                    <a:pt x="-1340" y="654948"/>
                    <a:pt x="4212" y="645500"/>
                  </a:cubicBezTo>
                  <a:lnTo>
                    <a:pt x="153302" y="391805"/>
                  </a:lnTo>
                  <a:cubicBezTo>
                    <a:pt x="170003" y="363386"/>
                    <a:pt x="170003" y="328151"/>
                    <a:pt x="153302" y="299731"/>
                  </a:cubicBezTo>
                  <a:lnTo>
                    <a:pt x="4212" y="46037"/>
                  </a:lnTo>
                  <a:cubicBezTo>
                    <a:pt x="-1340" y="36589"/>
                    <a:pt x="-1408" y="24891"/>
                    <a:pt x="4035" y="15380"/>
                  </a:cubicBezTo>
                  <a:cubicBezTo>
                    <a:pt x="9477" y="5868"/>
                    <a:pt x="19597" y="0"/>
                    <a:pt x="30555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85725"/>
              <a:ext cx="1012676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918576" y="7055934"/>
            <a:ext cx="3865623" cy="2653596"/>
            <a:chOff x="0" y="0"/>
            <a:chExt cx="510988" cy="3507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3755" y="0"/>
              <a:ext cx="463477" cy="350773"/>
            </a:xfrm>
            <a:custGeom>
              <a:avLst/>
              <a:gdLst/>
              <a:ahLst/>
              <a:cxnLst/>
              <a:rect r="r" b="b" t="t" l="l"/>
              <a:pathLst>
                <a:path h="350773" w="463477">
                  <a:moveTo>
                    <a:pt x="227956" y="0"/>
                  </a:moveTo>
                  <a:lnTo>
                    <a:pt x="32322" y="0"/>
                  </a:lnTo>
                  <a:cubicBezTo>
                    <a:pt x="20766" y="0"/>
                    <a:pt x="10090" y="6169"/>
                    <a:pt x="4319" y="16181"/>
                  </a:cubicBezTo>
                  <a:cubicBezTo>
                    <a:pt x="-1452" y="26193"/>
                    <a:pt x="-1438" y="38524"/>
                    <a:pt x="4354" y="48524"/>
                  </a:cubicBezTo>
                  <a:lnTo>
                    <a:pt x="151336" y="302250"/>
                  </a:lnTo>
                  <a:cubicBezTo>
                    <a:pt x="168734" y="332283"/>
                    <a:pt x="200814" y="350773"/>
                    <a:pt x="235522" y="350773"/>
                  </a:cubicBezTo>
                  <a:lnTo>
                    <a:pt x="431156" y="350773"/>
                  </a:lnTo>
                  <a:cubicBezTo>
                    <a:pt x="442712" y="350773"/>
                    <a:pt x="453389" y="344604"/>
                    <a:pt x="459159" y="334592"/>
                  </a:cubicBezTo>
                  <a:cubicBezTo>
                    <a:pt x="464930" y="324580"/>
                    <a:pt x="464916" y="312249"/>
                    <a:pt x="459124" y="302250"/>
                  </a:cubicBezTo>
                  <a:lnTo>
                    <a:pt x="312143" y="48524"/>
                  </a:lnTo>
                  <a:cubicBezTo>
                    <a:pt x="294745" y="18490"/>
                    <a:pt x="262664" y="0"/>
                    <a:pt x="227956" y="0"/>
                  </a:cubicBezTo>
                  <a:close/>
                </a:path>
              </a:pathLst>
            </a:custGeom>
            <a:solidFill>
              <a:srgbClr val="426165"/>
            </a:solidFill>
            <a:ln w="1047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85725"/>
              <a:ext cx="307788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71058" y="1953383"/>
            <a:ext cx="7295036" cy="6269172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298" y="0"/>
              <a:ext cx="800204" cy="698500"/>
            </a:xfrm>
            <a:custGeom>
              <a:avLst/>
              <a:gdLst/>
              <a:ahLst/>
              <a:cxnLst/>
              <a:rect r="r" b="b" t="t" l="l"/>
              <a:pathLst>
                <a:path h="698500" w="800204">
                  <a:moveTo>
                    <a:pt x="794761" y="369431"/>
                  </a:moveTo>
                  <a:lnTo>
                    <a:pt x="615043" y="678319"/>
                  </a:lnTo>
                  <a:cubicBezTo>
                    <a:pt x="607774" y="690814"/>
                    <a:pt x="594409" y="698500"/>
                    <a:pt x="579954" y="698500"/>
                  </a:cubicBezTo>
                  <a:lnTo>
                    <a:pt x="220250" y="698500"/>
                  </a:lnTo>
                  <a:cubicBezTo>
                    <a:pt x="205795" y="698500"/>
                    <a:pt x="192430" y="690814"/>
                    <a:pt x="185161" y="678319"/>
                  </a:cubicBezTo>
                  <a:lnTo>
                    <a:pt x="5443" y="369431"/>
                  </a:lnTo>
                  <a:cubicBezTo>
                    <a:pt x="-1815" y="356956"/>
                    <a:pt x="-1815" y="341544"/>
                    <a:pt x="5443" y="329069"/>
                  </a:cubicBezTo>
                  <a:lnTo>
                    <a:pt x="185161" y="20181"/>
                  </a:lnTo>
                  <a:cubicBezTo>
                    <a:pt x="192430" y="7686"/>
                    <a:pt x="205795" y="0"/>
                    <a:pt x="220250" y="0"/>
                  </a:cubicBezTo>
                  <a:lnTo>
                    <a:pt x="579954" y="0"/>
                  </a:lnTo>
                  <a:cubicBezTo>
                    <a:pt x="594409" y="0"/>
                    <a:pt x="607774" y="7686"/>
                    <a:pt x="615043" y="20181"/>
                  </a:cubicBezTo>
                  <a:lnTo>
                    <a:pt x="794761" y="329069"/>
                  </a:lnTo>
                  <a:cubicBezTo>
                    <a:pt x="802019" y="341544"/>
                    <a:pt x="802019" y="356956"/>
                    <a:pt x="794761" y="369431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98691" y="9931277"/>
            <a:ext cx="7295875" cy="1279620"/>
            <a:chOff x="0" y="0"/>
            <a:chExt cx="3982564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297" y="0"/>
              <a:ext cx="3969970" cy="698500"/>
            </a:xfrm>
            <a:custGeom>
              <a:avLst/>
              <a:gdLst/>
              <a:ahLst/>
              <a:cxnLst/>
              <a:rect r="r" b="b" t="t" l="l"/>
              <a:pathLst>
                <a:path h="698500" w="3969970">
                  <a:moveTo>
                    <a:pt x="3964527" y="369428"/>
                  </a:moveTo>
                  <a:lnTo>
                    <a:pt x="3784807" y="678322"/>
                  </a:lnTo>
                  <a:cubicBezTo>
                    <a:pt x="3777538" y="690815"/>
                    <a:pt x="3764175" y="698500"/>
                    <a:pt x="3749722" y="698500"/>
                  </a:cubicBezTo>
                  <a:lnTo>
                    <a:pt x="220248" y="698500"/>
                  </a:lnTo>
                  <a:cubicBezTo>
                    <a:pt x="205795" y="698500"/>
                    <a:pt x="192431" y="690815"/>
                    <a:pt x="185163" y="678322"/>
                  </a:cubicBezTo>
                  <a:lnTo>
                    <a:pt x="5443" y="369428"/>
                  </a:lnTo>
                  <a:cubicBezTo>
                    <a:pt x="-1814" y="356955"/>
                    <a:pt x="-1814" y="341545"/>
                    <a:pt x="5443" y="329072"/>
                  </a:cubicBezTo>
                  <a:lnTo>
                    <a:pt x="185163" y="20178"/>
                  </a:lnTo>
                  <a:cubicBezTo>
                    <a:pt x="192431" y="7685"/>
                    <a:pt x="205795" y="0"/>
                    <a:pt x="220248" y="0"/>
                  </a:cubicBezTo>
                  <a:lnTo>
                    <a:pt x="3749722" y="0"/>
                  </a:lnTo>
                  <a:cubicBezTo>
                    <a:pt x="3764175" y="0"/>
                    <a:pt x="3777538" y="7685"/>
                    <a:pt x="3784807" y="20178"/>
                  </a:cubicBezTo>
                  <a:lnTo>
                    <a:pt x="3964527" y="329072"/>
                  </a:lnTo>
                  <a:cubicBezTo>
                    <a:pt x="3971784" y="341545"/>
                    <a:pt x="3971784" y="356955"/>
                    <a:pt x="3964527" y="369428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85725"/>
              <a:ext cx="3753964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030149" y="2773273"/>
            <a:ext cx="5038793" cy="4629391"/>
          </a:xfrm>
          <a:custGeom>
            <a:avLst/>
            <a:gdLst/>
            <a:ahLst/>
            <a:cxnLst/>
            <a:rect r="r" b="b" t="t" l="l"/>
            <a:pathLst>
              <a:path h="4629391" w="5038793">
                <a:moveTo>
                  <a:pt x="0" y="0"/>
                </a:moveTo>
                <a:lnTo>
                  <a:pt x="5038793" y="0"/>
                </a:lnTo>
                <a:lnTo>
                  <a:pt x="5038793" y="4629391"/>
                </a:lnTo>
                <a:lnTo>
                  <a:pt x="0" y="462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2057918" y="4183535"/>
            <a:ext cx="5038793" cy="4629391"/>
          </a:xfrm>
          <a:custGeom>
            <a:avLst/>
            <a:gdLst/>
            <a:ahLst/>
            <a:cxnLst/>
            <a:rect r="r" b="b" t="t" l="l"/>
            <a:pathLst>
              <a:path h="4629391" w="5038793">
                <a:moveTo>
                  <a:pt x="0" y="0"/>
                </a:moveTo>
                <a:lnTo>
                  <a:pt x="5038793" y="0"/>
                </a:lnTo>
                <a:lnTo>
                  <a:pt x="5038793" y="4629391"/>
                </a:lnTo>
                <a:lnTo>
                  <a:pt x="0" y="462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4" id="24"/>
          <p:cNvGrpSpPr/>
          <p:nvPr/>
        </p:nvGrpSpPr>
        <p:grpSpPr>
          <a:xfrm rot="0">
            <a:off x="700653" y="2322566"/>
            <a:ext cx="6435847" cy="5530806"/>
            <a:chOff x="0" y="0"/>
            <a:chExt cx="812800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7139" y="0"/>
              <a:ext cx="798523" cy="698500"/>
            </a:xfrm>
            <a:custGeom>
              <a:avLst/>
              <a:gdLst/>
              <a:ahLst/>
              <a:cxnLst/>
              <a:rect r="r" b="b" t="t" l="l"/>
              <a:pathLst>
                <a:path h="698500" w="798523">
                  <a:moveTo>
                    <a:pt x="792352" y="372125"/>
                  </a:moveTo>
                  <a:lnTo>
                    <a:pt x="615770" y="675625"/>
                  </a:lnTo>
                  <a:cubicBezTo>
                    <a:pt x="607530" y="689788"/>
                    <a:pt x="592381" y="698500"/>
                    <a:pt x="575996" y="698500"/>
                  </a:cubicBezTo>
                  <a:lnTo>
                    <a:pt x="222526" y="698500"/>
                  </a:lnTo>
                  <a:cubicBezTo>
                    <a:pt x="206141" y="698500"/>
                    <a:pt x="190992" y="689788"/>
                    <a:pt x="182752" y="675625"/>
                  </a:cubicBezTo>
                  <a:lnTo>
                    <a:pt x="6170" y="372125"/>
                  </a:lnTo>
                  <a:cubicBezTo>
                    <a:pt x="-2057" y="357984"/>
                    <a:pt x="-2057" y="340516"/>
                    <a:pt x="6170" y="326375"/>
                  </a:cubicBezTo>
                  <a:lnTo>
                    <a:pt x="182752" y="22875"/>
                  </a:lnTo>
                  <a:cubicBezTo>
                    <a:pt x="190992" y="8712"/>
                    <a:pt x="206141" y="0"/>
                    <a:pt x="222526" y="0"/>
                  </a:cubicBezTo>
                  <a:lnTo>
                    <a:pt x="575996" y="0"/>
                  </a:lnTo>
                  <a:cubicBezTo>
                    <a:pt x="592381" y="0"/>
                    <a:pt x="607530" y="8712"/>
                    <a:pt x="615770" y="22875"/>
                  </a:cubicBezTo>
                  <a:lnTo>
                    <a:pt x="792352" y="326375"/>
                  </a:lnTo>
                  <a:cubicBezTo>
                    <a:pt x="800579" y="340516"/>
                    <a:pt x="800579" y="357984"/>
                    <a:pt x="792352" y="372125"/>
                  </a:cubicBezTo>
                  <a:close/>
                </a:path>
              </a:pathLst>
            </a:custGeom>
            <a:blipFill>
              <a:blip r:embed="rId7"/>
              <a:stretch>
                <a:fillRect l="-15646" t="0" r="-15646" b="0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5659109" y="831668"/>
            <a:ext cx="979972" cy="982428"/>
          </a:xfrm>
          <a:custGeom>
            <a:avLst/>
            <a:gdLst/>
            <a:ahLst/>
            <a:cxnLst/>
            <a:rect r="r" b="b" t="t" l="l"/>
            <a:pathLst>
              <a:path h="982428" w="979972">
                <a:moveTo>
                  <a:pt x="0" y="0"/>
                </a:moveTo>
                <a:lnTo>
                  <a:pt x="979972" y="0"/>
                </a:lnTo>
                <a:lnTo>
                  <a:pt x="979972" y="982428"/>
                </a:lnTo>
                <a:lnTo>
                  <a:pt x="0" y="9824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6895586" y="831668"/>
            <a:ext cx="3268071" cy="3351867"/>
          </a:xfrm>
          <a:custGeom>
            <a:avLst/>
            <a:gdLst/>
            <a:ahLst/>
            <a:cxnLst/>
            <a:rect r="r" b="b" t="t" l="l"/>
            <a:pathLst>
              <a:path h="3351867" w="3268071">
                <a:moveTo>
                  <a:pt x="0" y="0"/>
                </a:moveTo>
                <a:lnTo>
                  <a:pt x="3268071" y="0"/>
                </a:lnTo>
                <a:lnTo>
                  <a:pt x="3268071" y="3351867"/>
                </a:lnTo>
                <a:lnTo>
                  <a:pt x="0" y="33518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7877987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4" y="0"/>
                </a:lnTo>
                <a:lnTo>
                  <a:pt x="1645284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51784" t="-261457" r="-92831" b="-825712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068942" y="3626955"/>
            <a:ext cx="9057772" cy="74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2"/>
              </a:lnSpc>
            </a:pPr>
            <a:r>
              <a:rPr lang="en-US" sz="5692" spc="-341" b="true">
                <a:solidFill>
                  <a:srgbClr val="1C1C1C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Anggota Kelompok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68942" y="4539627"/>
            <a:ext cx="8548326" cy="2863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289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Belia Eka Sukma Mentari — 230441100110</a:t>
            </a:r>
          </a:p>
          <a:p>
            <a:pPr algn="l">
              <a:lnSpc>
                <a:spcPts val="4625"/>
              </a:lnSpc>
            </a:pPr>
            <a:r>
              <a:rPr lang="en-US" sz="289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Annisa Putri — 230441100133</a:t>
            </a:r>
          </a:p>
          <a:p>
            <a:pPr algn="l">
              <a:lnSpc>
                <a:spcPts val="4625"/>
              </a:lnSpc>
            </a:pPr>
            <a:r>
              <a:rPr lang="en-US" sz="289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D</a:t>
            </a:r>
            <a:r>
              <a:rPr lang="en-US" sz="289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io Ramadhani Pratama P — 230441100142</a:t>
            </a:r>
          </a:p>
          <a:p>
            <a:pPr algn="l">
              <a:lnSpc>
                <a:spcPts val="4625"/>
              </a:lnSpc>
            </a:pPr>
            <a:r>
              <a:rPr lang="en-US" sz="289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Nagita Br</a:t>
            </a:r>
            <a:r>
              <a:rPr lang="en-US" sz="289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enda Silvia — 230441100152</a:t>
            </a:r>
          </a:p>
          <a:p>
            <a:pPr algn="l">
              <a:lnSpc>
                <a:spcPts val="462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6283" y="6710620"/>
            <a:ext cx="0" cy="202375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3608516">
            <a:off x="10753144" y="-1328175"/>
            <a:ext cx="3669196" cy="2366702"/>
            <a:chOff x="0" y="0"/>
            <a:chExt cx="543818" cy="350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8602" y="0"/>
              <a:ext cx="486613" cy="350773"/>
            </a:xfrm>
            <a:custGeom>
              <a:avLst/>
              <a:gdLst/>
              <a:ahLst/>
              <a:cxnLst/>
              <a:rect r="r" b="b" t="t" l="l"/>
              <a:pathLst>
                <a:path h="350773" w="486613">
                  <a:moveTo>
                    <a:pt x="244496" y="0"/>
                  </a:moveTo>
                  <a:lnTo>
                    <a:pt x="38917" y="0"/>
                  </a:lnTo>
                  <a:cubicBezTo>
                    <a:pt x="25004" y="0"/>
                    <a:pt x="12148" y="7428"/>
                    <a:pt x="5200" y="19483"/>
                  </a:cubicBezTo>
                  <a:cubicBezTo>
                    <a:pt x="-1748" y="31538"/>
                    <a:pt x="-1732" y="46385"/>
                    <a:pt x="5243" y="58424"/>
                  </a:cubicBezTo>
                  <a:lnTo>
                    <a:pt x="140753" y="292349"/>
                  </a:lnTo>
                  <a:cubicBezTo>
                    <a:pt x="161701" y="328510"/>
                    <a:pt x="200327" y="350773"/>
                    <a:pt x="242117" y="350773"/>
                  </a:cubicBezTo>
                  <a:lnTo>
                    <a:pt x="447696" y="350773"/>
                  </a:lnTo>
                  <a:cubicBezTo>
                    <a:pt x="461610" y="350773"/>
                    <a:pt x="474466" y="343345"/>
                    <a:pt x="481414" y="331290"/>
                  </a:cubicBezTo>
                  <a:cubicBezTo>
                    <a:pt x="488362" y="319235"/>
                    <a:pt x="488345" y="304388"/>
                    <a:pt x="481371" y="292349"/>
                  </a:cubicBezTo>
                  <a:lnTo>
                    <a:pt x="345860" y="58424"/>
                  </a:lnTo>
                  <a:cubicBezTo>
                    <a:pt x="324913" y="22263"/>
                    <a:pt x="286287" y="0"/>
                    <a:pt x="24449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85725"/>
              <a:ext cx="340618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649450" y="8760916"/>
            <a:ext cx="3965520" cy="2013887"/>
          </a:xfrm>
          <a:custGeom>
            <a:avLst/>
            <a:gdLst/>
            <a:ahLst/>
            <a:cxnLst/>
            <a:rect r="r" b="b" t="t" l="l"/>
            <a:pathLst>
              <a:path h="2013887" w="3965520">
                <a:moveTo>
                  <a:pt x="0" y="0"/>
                </a:moveTo>
                <a:lnTo>
                  <a:pt x="3965520" y="0"/>
                </a:lnTo>
                <a:lnTo>
                  <a:pt x="3965520" y="2013887"/>
                </a:lnTo>
                <a:lnTo>
                  <a:pt x="0" y="2013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6965" b="-142059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8" id="8"/>
          <p:cNvGrpSpPr/>
          <p:nvPr/>
        </p:nvGrpSpPr>
        <p:grpSpPr>
          <a:xfrm rot="0">
            <a:off x="11957560" y="-841322"/>
            <a:ext cx="7606870" cy="9862360"/>
            <a:chOff x="0" y="0"/>
            <a:chExt cx="533385" cy="6915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78" y="0"/>
              <a:ext cx="517714" cy="691537"/>
            </a:xfrm>
            <a:custGeom>
              <a:avLst/>
              <a:gdLst/>
              <a:ahLst/>
              <a:cxnLst/>
              <a:rect r="r" b="b" t="t" l="l"/>
              <a:pathLst>
                <a:path h="691537" w="517714">
                  <a:moveTo>
                    <a:pt x="12813" y="0"/>
                  </a:moveTo>
                  <a:lnTo>
                    <a:pt x="298216" y="0"/>
                  </a:lnTo>
                  <a:cubicBezTo>
                    <a:pt x="312088" y="0"/>
                    <a:pt x="324923" y="7344"/>
                    <a:pt x="331951" y="19304"/>
                  </a:cubicBezTo>
                  <a:lnTo>
                    <a:pt x="512462" y="326465"/>
                  </a:lnTo>
                  <a:cubicBezTo>
                    <a:pt x="519465" y="338381"/>
                    <a:pt x="519465" y="353156"/>
                    <a:pt x="512462" y="365072"/>
                  </a:cubicBezTo>
                  <a:lnTo>
                    <a:pt x="331951" y="672233"/>
                  </a:lnTo>
                  <a:cubicBezTo>
                    <a:pt x="324923" y="684192"/>
                    <a:pt x="312088" y="691537"/>
                    <a:pt x="298216" y="691537"/>
                  </a:cubicBezTo>
                  <a:lnTo>
                    <a:pt x="12813" y="691537"/>
                  </a:lnTo>
                  <a:cubicBezTo>
                    <a:pt x="8218" y="691537"/>
                    <a:pt x="3974" y="689076"/>
                    <a:pt x="1692" y="685088"/>
                  </a:cubicBezTo>
                  <a:cubicBezTo>
                    <a:pt x="-590" y="681100"/>
                    <a:pt x="-562" y="676195"/>
                    <a:pt x="1766" y="672233"/>
                  </a:cubicBezTo>
                  <a:lnTo>
                    <a:pt x="182278" y="365072"/>
                  </a:lnTo>
                  <a:cubicBezTo>
                    <a:pt x="189281" y="353156"/>
                    <a:pt x="189281" y="338381"/>
                    <a:pt x="182278" y="326465"/>
                  </a:cubicBezTo>
                  <a:lnTo>
                    <a:pt x="1766" y="19304"/>
                  </a:lnTo>
                  <a:cubicBezTo>
                    <a:pt x="-562" y="15342"/>
                    <a:pt x="-590" y="10437"/>
                    <a:pt x="1692" y="6449"/>
                  </a:cubicBezTo>
                  <a:cubicBezTo>
                    <a:pt x="3974" y="2461"/>
                    <a:pt x="8218" y="0"/>
                    <a:pt x="12813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85725"/>
              <a:ext cx="279385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0191802" y="2431709"/>
            <a:ext cx="3933216" cy="5125166"/>
            <a:chOff x="0" y="0"/>
            <a:chExt cx="530707" cy="6915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8524" y="0"/>
              <a:ext cx="500401" cy="691537"/>
            </a:xfrm>
            <a:custGeom>
              <a:avLst/>
              <a:gdLst/>
              <a:ahLst/>
              <a:cxnLst/>
              <a:rect r="r" b="b" t="t" l="l"/>
              <a:pathLst>
                <a:path h="691537" w="500401">
                  <a:moveTo>
                    <a:pt x="24780" y="0"/>
                  </a:moveTo>
                  <a:lnTo>
                    <a:pt x="265680" y="0"/>
                  </a:lnTo>
                  <a:cubicBezTo>
                    <a:pt x="292508" y="0"/>
                    <a:pt x="317331" y="14204"/>
                    <a:pt x="330924" y="37334"/>
                  </a:cubicBezTo>
                  <a:lnTo>
                    <a:pt x="490243" y="308434"/>
                  </a:lnTo>
                  <a:cubicBezTo>
                    <a:pt x="503787" y="331481"/>
                    <a:pt x="503787" y="360056"/>
                    <a:pt x="490243" y="383102"/>
                  </a:cubicBezTo>
                  <a:lnTo>
                    <a:pt x="330924" y="654203"/>
                  </a:lnTo>
                  <a:cubicBezTo>
                    <a:pt x="317331" y="677333"/>
                    <a:pt x="292508" y="691537"/>
                    <a:pt x="265680" y="691537"/>
                  </a:cubicBezTo>
                  <a:lnTo>
                    <a:pt x="24780" y="691537"/>
                  </a:lnTo>
                  <a:cubicBezTo>
                    <a:pt x="15893" y="691537"/>
                    <a:pt x="7686" y="686778"/>
                    <a:pt x="3273" y="679064"/>
                  </a:cubicBezTo>
                  <a:cubicBezTo>
                    <a:pt x="-1141" y="671351"/>
                    <a:pt x="-1086" y="661865"/>
                    <a:pt x="3416" y="654203"/>
                  </a:cubicBezTo>
                  <a:lnTo>
                    <a:pt x="162736" y="383102"/>
                  </a:lnTo>
                  <a:cubicBezTo>
                    <a:pt x="176280" y="360056"/>
                    <a:pt x="176280" y="331481"/>
                    <a:pt x="162736" y="308434"/>
                  </a:cubicBezTo>
                  <a:lnTo>
                    <a:pt x="3416" y="37334"/>
                  </a:lnTo>
                  <a:cubicBezTo>
                    <a:pt x="-1086" y="29672"/>
                    <a:pt x="-1141" y="20186"/>
                    <a:pt x="3273" y="12472"/>
                  </a:cubicBezTo>
                  <a:cubicBezTo>
                    <a:pt x="7686" y="4759"/>
                    <a:pt x="15893" y="0"/>
                    <a:pt x="24780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85725"/>
              <a:ext cx="276707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095844" y="3503204"/>
            <a:ext cx="6192156" cy="5689043"/>
          </a:xfrm>
          <a:custGeom>
            <a:avLst/>
            <a:gdLst/>
            <a:ahLst/>
            <a:cxnLst/>
            <a:rect r="r" b="b" t="t" l="l"/>
            <a:pathLst>
              <a:path h="5689043" w="6192156">
                <a:moveTo>
                  <a:pt x="0" y="0"/>
                </a:moveTo>
                <a:lnTo>
                  <a:pt x="6192156" y="0"/>
                </a:lnTo>
                <a:lnTo>
                  <a:pt x="6192156" y="5689043"/>
                </a:lnTo>
                <a:lnTo>
                  <a:pt x="0" y="5689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10668000" y="1859706"/>
            <a:ext cx="7295036" cy="6269172"/>
            <a:chOff x="0" y="0"/>
            <a:chExt cx="812800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298" y="0"/>
              <a:ext cx="800204" cy="698500"/>
            </a:xfrm>
            <a:custGeom>
              <a:avLst/>
              <a:gdLst/>
              <a:ahLst/>
              <a:cxnLst/>
              <a:rect r="r" b="b" t="t" l="l"/>
              <a:pathLst>
                <a:path h="698500" w="800204">
                  <a:moveTo>
                    <a:pt x="794761" y="369431"/>
                  </a:moveTo>
                  <a:lnTo>
                    <a:pt x="615043" y="678319"/>
                  </a:lnTo>
                  <a:cubicBezTo>
                    <a:pt x="607774" y="690814"/>
                    <a:pt x="594409" y="698500"/>
                    <a:pt x="579954" y="698500"/>
                  </a:cubicBezTo>
                  <a:lnTo>
                    <a:pt x="220250" y="698500"/>
                  </a:lnTo>
                  <a:cubicBezTo>
                    <a:pt x="205795" y="698500"/>
                    <a:pt x="192430" y="690814"/>
                    <a:pt x="185161" y="678319"/>
                  </a:cubicBezTo>
                  <a:lnTo>
                    <a:pt x="5443" y="369431"/>
                  </a:lnTo>
                  <a:cubicBezTo>
                    <a:pt x="-1815" y="356956"/>
                    <a:pt x="-1815" y="341544"/>
                    <a:pt x="5443" y="329069"/>
                  </a:cubicBezTo>
                  <a:lnTo>
                    <a:pt x="185161" y="20181"/>
                  </a:lnTo>
                  <a:cubicBezTo>
                    <a:pt x="192430" y="7686"/>
                    <a:pt x="205795" y="0"/>
                    <a:pt x="220250" y="0"/>
                  </a:cubicBezTo>
                  <a:lnTo>
                    <a:pt x="579954" y="0"/>
                  </a:lnTo>
                  <a:cubicBezTo>
                    <a:pt x="594409" y="0"/>
                    <a:pt x="607774" y="7686"/>
                    <a:pt x="615043" y="20181"/>
                  </a:cubicBezTo>
                  <a:lnTo>
                    <a:pt x="794761" y="329069"/>
                  </a:lnTo>
                  <a:cubicBezTo>
                    <a:pt x="802019" y="341544"/>
                    <a:pt x="802019" y="356956"/>
                    <a:pt x="794761" y="369431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97595" y="2228889"/>
            <a:ext cx="6435847" cy="5530806"/>
            <a:chOff x="0" y="0"/>
            <a:chExt cx="812800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139" y="0"/>
              <a:ext cx="798523" cy="698500"/>
            </a:xfrm>
            <a:custGeom>
              <a:avLst/>
              <a:gdLst/>
              <a:ahLst/>
              <a:cxnLst/>
              <a:rect r="r" b="b" t="t" l="l"/>
              <a:pathLst>
                <a:path h="698500" w="798523">
                  <a:moveTo>
                    <a:pt x="792352" y="372125"/>
                  </a:moveTo>
                  <a:lnTo>
                    <a:pt x="615770" y="675625"/>
                  </a:lnTo>
                  <a:cubicBezTo>
                    <a:pt x="607530" y="689788"/>
                    <a:pt x="592381" y="698500"/>
                    <a:pt x="575996" y="698500"/>
                  </a:cubicBezTo>
                  <a:lnTo>
                    <a:pt x="222526" y="698500"/>
                  </a:lnTo>
                  <a:cubicBezTo>
                    <a:pt x="206141" y="698500"/>
                    <a:pt x="190992" y="689788"/>
                    <a:pt x="182752" y="675625"/>
                  </a:cubicBezTo>
                  <a:lnTo>
                    <a:pt x="6170" y="372125"/>
                  </a:lnTo>
                  <a:cubicBezTo>
                    <a:pt x="-2057" y="357984"/>
                    <a:pt x="-2057" y="340516"/>
                    <a:pt x="6170" y="326375"/>
                  </a:cubicBezTo>
                  <a:lnTo>
                    <a:pt x="182752" y="22875"/>
                  </a:lnTo>
                  <a:cubicBezTo>
                    <a:pt x="190992" y="8712"/>
                    <a:pt x="206141" y="0"/>
                    <a:pt x="222526" y="0"/>
                  </a:cubicBezTo>
                  <a:lnTo>
                    <a:pt x="575996" y="0"/>
                  </a:lnTo>
                  <a:cubicBezTo>
                    <a:pt x="592381" y="0"/>
                    <a:pt x="607530" y="8712"/>
                    <a:pt x="615770" y="22875"/>
                  </a:cubicBezTo>
                  <a:lnTo>
                    <a:pt x="792352" y="326375"/>
                  </a:lnTo>
                  <a:cubicBezTo>
                    <a:pt x="800579" y="340516"/>
                    <a:pt x="800579" y="357984"/>
                    <a:pt x="792352" y="372125"/>
                  </a:cubicBezTo>
                  <a:close/>
                </a:path>
              </a:pathLst>
            </a:custGeom>
            <a:blipFill>
              <a:blip r:embed="rId7"/>
              <a:stretch>
                <a:fillRect l="-15523" t="0" r="-15523" b="0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212168" y="9981318"/>
            <a:ext cx="5438931" cy="1121747"/>
            <a:chOff x="0" y="0"/>
            <a:chExt cx="1700767" cy="3507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266" y="0"/>
              <a:ext cx="1674236" cy="350773"/>
            </a:xfrm>
            <a:custGeom>
              <a:avLst/>
              <a:gdLst/>
              <a:ahLst/>
              <a:cxnLst/>
              <a:rect r="r" b="b" t="t" l="l"/>
              <a:pathLst>
                <a:path h="350773" w="1674236">
                  <a:moveTo>
                    <a:pt x="1452986" y="0"/>
                  </a:moveTo>
                  <a:lnTo>
                    <a:pt x="18049" y="0"/>
                  </a:lnTo>
                  <a:cubicBezTo>
                    <a:pt x="11596" y="0"/>
                    <a:pt x="5634" y="3445"/>
                    <a:pt x="2411" y="9036"/>
                  </a:cubicBezTo>
                  <a:cubicBezTo>
                    <a:pt x="-811" y="14627"/>
                    <a:pt x="-804" y="21513"/>
                    <a:pt x="2431" y="27097"/>
                  </a:cubicBezTo>
                  <a:lnTo>
                    <a:pt x="174237" y="323676"/>
                  </a:lnTo>
                  <a:cubicBezTo>
                    <a:pt x="183952" y="340447"/>
                    <a:pt x="201867" y="350773"/>
                    <a:pt x="221249" y="350773"/>
                  </a:cubicBezTo>
                  <a:lnTo>
                    <a:pt x="1656186" y="350773"/>
                  </a:lnTo>
                  <a:cubicBezTo>
                    <a:pt x="1662639" y="350773"/>
                    <a:pt x="1668601" y="347328"/>
                    <a:pt x="1671824" y="341737"/>
                  </a:cubicBezTo>
                  <a:cubicBezTo>
                    <a:pt x="1675046" y="336146"/>
                    <a:pt x="1675039" y="329260"/>
                    <a:pt x="1671804" y="323676"/>
                  </a:cubicBezTo>
                  <a:lnTo>
                    <a:pt x="1499998" y="27097"/>
                  </a:lnTo>
                  <a:cubicBezTo>
                    <a:pt x="1490283" y="10326"/>
                    <a:pt x="1472368" y="0"/>
                    <a:pt x="1452986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85725"/>
              <a:ext cx="1497567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2962371" y="74188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-2064034" y="9726127"/>
            <a:ext cx="5438931" cy="1121747"/>
            <a:chOff x="0" y="0"/>
            <a:chExt cx="1700767" cy="3507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3266" y="0"/>
              <a:ext cx="1674236" cy="350773"/>
            </a:xfrm>
            <a:custGeom>
              <a:avLst/>
              <a:gdLst/>
              <a:ahLst/>
              <a:cxnLst/>
              <a:rect r="r" b="b" t="t" l="l"/>
              <a:pathLst>
                <a:path h="350773" w="1674236">
                  <a:moveTo>
                    <a:pt x="1452986" y="0"/>
                  </a:moveTo>
                  <a:lnTo>
                    <a:pt x="18049" y="0"/>
                  </a:lnTo>
                  <a:cubicBezTo>
                    <a:pt x="11596" y="0"/>
                    <a:pt x="5634" y="3445"/>
                    <a:pt x="2411" y="9036"/>
                  </a:cubicBezTo>
                  <a:cubicBezTo>
                    <a:pt x="-811" y="14627"/>
                    <a:pt x="-804" y="21513"/>
                    <a:pt x="2431" y="27097"/>
                  </a:cubicBezTo>
                  <a:lnTo>
                    <a:pt x="174237" y="323676"/>
                  </a:lnTo>
                  <a:cubicBezTo>
                    <a:pt x="183952" y="340447"/>
                    <a:pt x="201867" y="350773"/>
                    <a:pt x="221249" y="350773"/>
                  </a:cubicBezTo>
                  <a:lnTo>
                    <a:pt x="1656186" y="350773"/>
                  </a:lnTo>
                  <a:cubicBezTo>
                    <a:pt x="1662639" y="350773"/>
                    <a:pt x="1668601" y="347328"/>
                    <a:pt x="1671824" y="341737"/>
                  </a:cubicBezTo>
                  <a:cubicBezTo>
                    <a:pt x="1675046" y="336146"/>
                    <a:pt x="1675039" y="329260"/>
                    <a:pt x="1671804" y="323676"/>
                  </a:cubicBezTo>
                  <a:lnTo>
                    <a:pt x="1499998" y="27097"/>
                  </a:lnTo>
                  <a:cubicBezTo>
                    <a:pt x="1490283" y="10326"/>
                    <a:pt x="1472368" y="0"/>
                    <a:pt x="145298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85725"/>
              <a:ext cx="1497567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3400424" y="0"/>
            <a:ext cx="6108877" cy="1384761"/>
            <a:chOff x="0" y="0"/>
            <a:chExt cx="1541443" cy="3494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7225" y="0"/>
              <a:ext cx="1506993" cy="349414"/>
            </a:xfrm>
            <a:custGeom>
              <a:avLst/>
              <a:gdLst/>
              <a:ahLst/>
              <a:cxnLst/>
              <a:rect r="r" b="b" t="t" l="l"/>
              <a:pathLst>
                <a:path h="349414" w="1506993">
                  <a:moveTo>
                    <a:pt x="226529" y="0"/>
                  </a:moveTo>
                  <a:lnTo>
                    <a:pt x="1483664" y="0"/>
                  </a:lnTo>
                  <a:cubicBezTo>
                    <a:pt x="1492011" y="0"/>
                    <a:pt x="1499723" y="4460"/>
                    <a:pt x="1503886" y="11696"/>
                  </a:cubicBezTo>
                  <a:cubicBezTo>
                    <a:pt x="1508048" y="18932"/>
                    <a:pt x="1508027" y="27841"/>
                    <a:pt x="1503831" y="35057"/>
                  </a:cubicBezTo>
                  <a:lnTo>
                    <a:pt x="1341405" y="314357"/>
                  </a:lnTo>
                  <a:cubicBezTo>
                    <a:pt x="1328783" y="336061"/>
                    <a:pt x="1305571" y="349414"/>
                    <a:pt x="1280464" y="349414"/>
                  </a:cubicBezTo>
                  <a:lnTo>
                    <a:pt x="23329" y="349414"/>
                  </a:lnTo>
                  <a:cubicBezTo>
                    <a:pt x="14982" y="349414"/>
                    <a:pt x="7270" y="344954"/>
                    <a:pt x="3107" y="337718"/>
                  </a:cubicBezTo>
                  <a:cubicBezTo>
                    <a:pt x="-1055" y="330482"/>
                    <a:pt x="-1034" y="321573"/>
                    <a:pt x="3162" y="314357"/>
                  </a:cubicBezTo>
                  <a:lnTo>
                    <a:pt x="165588" y="35057"/>
                  </a:lnTo>
                  <a:cubicBezTo>
                    <a:pt x="178210" y="13353"/>
                    <a:pt x="201422" y="0"/>
                    <a:pt x="226529" y="0"/>
                  </a:cubicBezTo>
                  <a:close/>
                </a:path>
              </a:pathLst>
            </a:custGeom>
            <a:solidFill>
              <a:srgbClr val="ECEDEE">
                <a:alpha val="5098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-85725"/>
              <a:ext cx="1338243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345985" y="-1512929"/>
            <a:ext cx="4348683" cy="1969319"/>
            <a:chOff x="0" y="0"/>
            <a:chExt cx="1527063" cy="6915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4370" y="0"/>
              <a:ext cx="1487192" cy="691537"/>
            </a:xfrm>
            <a:custGeom>
              <a:avLst/>
              <a:gdLst/>
              <a:ahLst/>
              <a:cxnLst/>
              <a:rect r="r" b="b" t="t" l="l"/>
              <a:pathLst>
                <a:path h="691537" w="1487192">
                  <a:moveTo>
                    <a:pt x="32599" y="0"/>
                  </a:moveTo>
                  <a:lnTo>
                    <a:pt x="1242524" y="0"/>
                  </a:lnTo>
                  <a:cubicBezTo>
                    <a:pt x="1277818" y="0"/>
                    <a:pt x="1310475" y="18687"/>
                    <a:pt x="1328357" y="49116"/>
                  </a:cubicBezTo>
                  <a:lnTo>
                    <a:pt x="1473829" y="296653"/>
                  </a:lnTo>
                  <a:cubicBezTo>
                    <a:pt x="1491647" y="326972"/>
                    <a:pt x="1491647" y="364564"/>
                    <a:pt x="1473829" y="394884"/>
                  </a:cubicBezTo>
                  <a:lnTo>
                    <a:pt x="1328357" y="642421"/>
                  </a:lnTo>
                  <a:cubicBezTo>
                    <a:pt x="1310475" y="672850"/>
                    <a:pt x="1277818" y="691537"/>
                    <a:pt x="1242524" y="691537"/>
                  </a:cubicBezTo>
                  <a:lnTo>
                    <a:pt x="32599" y="691537"/>
                  </a:lnTo>
                  <a:cubicBezTo>
                    <a:pt x="20908" y="691537"/>
                    <a:pt x="10112" y="685276"/>
                    <a:pt x="4305" y="675128"/>
                  </a:cubicBezTo>
                  <a:cubicBezTo>
                    <a:pt x="-1502" y="664981"/>
                    <a:pt x="-1429" y="652501"/>
                    <a:pt x="4494" y="642421"/>
                  </a:cubicBezTo>
                  <a:lnTo>
                    <a:pt x="149966" y="394884"/>
                  </a:lnTo>
                  <a:cubicBezTo>
                    <a:pt x="167784" y="364564"/>
                    <a:pt x="167784" y="326972"/>
                    <a:pt x="149966" y="296653"/>
                  </a:cubicBezTo>
                  <a:lnTo>
                    <a:pt x="4494" y="49116"/>
                  </a:lnTo>
                  <a:cubicBezTo>
                    <a:pt x="-1429" y="39036"/>
                    <a:pt x="-1502" y="26556"/>
                    <a:pt x="4305" y="16408"/>
                  </a:cubicBezTo>
                  <a:cubicBezTo>
                    <a:pt x="10112" y="6261"/>
                    <a:pt x="20908" y="0"/>
                    <a:pt x="32599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85725"/>
              <a:ext cx="1273063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0633714" y="1859706"/>
            <a:ext cx="776385" cy="768621"/>
          </a:xfrm>
          <a:custGeom>
            <a:avLst/>
            <a:gdLst/>
            <a:ahLst/>
            <a:cxnLst/>
            <a:rect r="r" b="b" t="t" l="l"/>
            <a:pathLst>
              <a:path h="768621" w="776385">
                <a:moveTo>
                  <a:pt x="0" y="0"/>
                </a:moveTo>
                <a:lnTo>
                  <a:pt x="776385" y="0"/>
                </a:lnTo>
                <a:lnTo>
                  <a:pt x="776385" y="768621"/>
                </a:lnTo>
                <a:lnTo>
                  <a:pt x="0" y="7686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2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3598800">
            <a:off x="12798444" y="-119032"/>
            <a:ext cx="910649" cy="910649"/>
          </a:xfrm>
          <a:custGeom>
            <a:avLst/>
            <a:gdLst/>
            <a:ahLst/>
            <a:cxnLst/>
            <a:rect r="r" b="b" t="t" l="l"/>
            <a:pathLst>
              <a:path h="910649" w="910649">
                <a:moveTo>
                  <a:pt x="0" y="0"/>
                </a:moveTo>
                <a:lnTo>
                  <a:pt x="910649" y="0"/>
                </a:lnTo>
                <a:lnTo>
                  <a:pt x="910649" y="910649"/>
                </a:lnTo>
                <a:lnTo>
                  <a:pt x="0" y="9106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604869" y="-528269"/>
            <a:ext cx="4028845" cy="2549296"/>
          </a:xfrm>
          <a:custGeom>
            <a:avLst/>
            <a:gdLst/>
            <a:ahLst/>
            <a:cxnLst/>
            <a:rect r="r" b="b" t="t" l="l"/>
            <a:pathLst>
              <a:path h="2549296" w="4028845">
                <a:moveTo>
                  <a:pt x="0" y="0"/>
                </a:moveTo>
                <a:lnTo>
                  <a:pt x="4028845" y="0"/>
                </a:lnTo>
                <a:lnTo>
                  <a:pt x="4028845" y="2549296"/>
                </a:lnTo>
                <a:lnTo>
                  <a:pt x="0" y="2549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8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80872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51784" t="-261457" r="-92831" b="-825712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446283" y="1274973"/>
            <a:ext cx="7008800" cy="969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9"/>
              </a:lnSpc>
            </a:pPr>
            <a:r>
              <a:rPr lang="en-US" sz="7399" spc="-443">
                <a:solidFill>
                  <a:srgbClr val="1C1C1C"/>
                </a:solidFill>
                <a:latin typeface="Helvetica Now"/>
                <a:ea typeface="Helvetica Now"/>
                <a:cs typeface="Helvetica Now"/>
                <a:sym typeface="Helvetica Now"/>
              </a:rPr>
              <a:t>Latar Belakang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46283" y="2327007"/>
            <a:ext cx="8638570" cy="420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34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Klasifikas</a:t>
            </a:r>
            <a:r>
              <a:rPr lang="en-US" sz="234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i citra merupakan salah satu penerapan Deep Learning untuk mengenali objek berdasarkan informasi visual.</a:t>
            </a:r>
          </a:p>
          <a:p>
            <a:pPr algn="l">
              <a:lnSpc>
                <a:spcPts val="3746"/>
              </a:lnSpc>
            </a:pPr>
            <a:r>
              <a:rPr lang="en-US" sz="234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Pada penelitian ini digunakan Convolutional Neural Network (CNN) dengan arsitektur MobileNetV2. </a:t>
            </a:r>
          </a:p>
          <a:p>
            <a:pPr algn="l">
              <a:lnSpc>
                <a:spcPts val="3746"/>
              </a:lnSpc>
            </a:pPr>
            <a:r>
              <a:rPr lang="en-US" sz="234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Model digunakan untuk mengklasifikasikan citra ke dalam 4 kategori sampah. Eksperimen dilakukan dengan 4 skenario konfigurasi untuk melihat pengaruh perubahan model terhadap performa klasifikasi.</a:t>
            </a:r>
          </a:p>
          <a:p>
            <a:pPr algn="l">
              <a:lnSpc>
                <a:spcPts val="3746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624712" y="6155309"/>
            <a:ext cx="8281712" cy="312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45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Ev</a:t>
            </a:r>
            <a:r>
              <a:rPr lang="en-US" sz="2245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aluasi menggunakan:</a:t>
            </a:r>
          </a:p>
          <a:p>
            <a:pPr algn="l" marL="484712" indent="-242356" lvl="1">
              <a:lnSpc>
                <a:spcPts val="3592"/>
              </a:lnSpc>
              <a:buFont typeface="Arial"/>
              <a:buChar char="•"/>
            </a:pPr>
            <a:r>
              <a:rPr lang="en-US" sz="2245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Accuracy</a:t>
            </a:r>
          </a:p>
          <a:p>
            <a:pPr algn="l" marL="484712" indent="-242356" lvl="1">
              <a:lnSpc>
                <a:spcPts val="3592"/>
              </a:lnSpc>
              <a:buFont typeface="Arial"/>
              <a:buChar char="•"/>
            </a:pPr>
            <a:r>
              <a:rPr lang="en-US" sz="2245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Precision</a:t>
            </a:r>
          </a:p>
          <a:p>
            <a:pPr algn="l" marL="484712" indent="-242356" lvl="1">
              <a:lnSpc>
                <a:spcPts val="3592"/>
              </a:lnSpc>
              <a:buFont typeface="Arial"/>
              <a:buChar char="•"/>
            </a:pPr>
            <a:r>
              <a:rPr lang="en-US" sz="2245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Recall</a:t>
            </a:r>
          </a:p>
          <a:p>
            <a:pPr algn="l" marL="484712" indent="-242356" lvl="1">
              <a:lnSpc>
                <a:spcPts val="3592"/>
              </a:lnSpc>
              <a:buFont typeface="Arial"/>
              <a:buChar char="•"/>
            </a:pPr>
            <a:r>
              <a:rPr lang="en-US" sz="2245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F1-Score</a:t>
            </a:r>
          </a:p>
          <a:p>
            <a:pPr algn="l" marL="484712" indent="-242356" lvl="1">
              <a:lnSpc>
                <a:spcPts val="3592"/>
              </a:lnSpc>
              <a:buFont typeface="Arial"/>
              <a:buChar char="•"/>
            </a:pPr>
            <a:r>
              <a:rPr lang="en-US" sz="2245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Confusion Matrix</a:t>
            </a:r>
          </a:p>
          <a:p>
            <a:pPr algn="l">
              <a:lnSpc>
                <a:spcPts val="359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32958" y="-256422"/>
            <a:ext cx="4422083" cy="2103863"/>
          </a:xfrm>
          <a:custGeom>
            <a:avLst/>
            <a:gdLst/>
            <a:ahLst/>
            <a:cxnLst/>
            <a:rect r="r" b="b" t="t" l="l"/>
            <a:pathLst>
              <a:path h="2103863" w="4422083">
                <a:moveTo>
                  <a:pt x="0" y="0"/>
                </a:moveTo>
                <a:lnTo>
                  <a:pt x="4422084" y="0"/>
                </a:lnTo>
                <a:lnTo>
                  <a:pt x="4422084" y="2103863"/>
                </a:lnTo>
                <a:lnTo>
                  <a:pt x="0" y="2103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5722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10800000">
            <a:off x="8932764" y="-2939367"/>
            <a:ext cx="7606870" cy="9862360"/>
            <a:chOff x="0" y="0"/>
            <a:chExt cx="533385" cy="691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578" y="0"/>
              <a:ext cx="517714" cy="691537"/>
            </a:xfrm>
            <a:custGeom>
              <a:avLst/>
              <a:gdLst/>
              <a:ahLst/>
              <a:cxnLst/>
              <a:rect r="r" b="b" t="t" l="l"/>
              <a:pathLst>
                <a:path h="691537" w="517714">
                  <a:moveTo>
                    <a:pt x="12813" y="0"/>
                  </a:moveTo>
                  <a:lnTo>
                    <a:pt x="298216" y="0"/>
                  </a:lnTo>
                  <a:cubicBezTo>
                    <a:pt x="312088" y="0"/>
                    <a:pt x="324923" y="7344"/>
                    <a:pt x="331951" y="19304"/>
                  </a:cubicBezTo>
                  <a:lnTo>
                    <a:pt x="512462" y="326465"/>
                  </a:lnTo>
                  <a:cubicBezTo>
                    <a:pt x="519465" y="338381"/>
                    <a:pt x="519465" y="353156"/>
                    <a:pt x="512462" y="365072"/>
                  </a:cubicBezTo>
                  <a:lnTo>
                    <a:pt x="331951" y="672233"/>
                  </a:lnTo>
                  <a:cubicBezTo>
                    <a:pt x="324923" y="684192"/>
                    <a:pt x="312088" y="691537"/>
                    <a:pt x="298216" y="691537"/>
                  </a:cubicBezTo>
                  <a:lnTo>
                    <a:pt x="12813" y="691537"/>
                  </a:lnTo>
                  <a:cubicBezTo>
                    <a:pt x="8218" y="691537"/>
                    <a:pt x="3974" y="689076"/>
                    <a:pt x="1692" y="685088"/>
                  </a:cubicBezTo>
                  <a:cubicBezTo>
                    <a:pt x="-590" y="681100"/>
                    <a:pt x="-562" y="676195"/>
                    <a:pt x="1766" y="672233"/>
                  </a:cubicBezTo>
                  <a:lnTo>
                    <a:pt x="182278" y="365072"/>
                  </a:lnTo>
                  <a:cubicBezTo>
                    <a:pt x="189281" y="353156"/>
                    <a:pt x="189281" y="338381"/>
                    <a:pt x="182278" y="326465"/>
                  </a:cubicBezTo>
                  <a:lnTo>
                    <a:pt x="1766" y="19304"/>
                  </a:lnTo>
                  <a:cubicBezTo>
                    <a:pt x="-562" y="15342"/>
                    <a:pt x="-590" y="10437"/>
                    <a:pt x="1692" y="6449"/>
                  </a:cubicBezTo>
                  <a:cubicBezTo>
                    <a:pt x="3974" y="2461"/>
                    <a:pt x="8218" y="0"/>
                    <a:pt x="12813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-85725"/>
              <a:ext cx="279385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45324" y="-497551"/>
            <a:ext cx="11594312" cy="6269172"/>
            <a:chOff x="0" y="0"/>
            <a:chExt cx="1291818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963" y="0"/>
              <a:ext cx="1283893" cy="698500"/>
            </a:xfrm>
            <a:custGeom>
              <a:avLst/>
              <a:gdLst/>
              <a:ahLst/>
              <a:cxnLst/>
              <a:rect r="r" b="b" t="t" l="l"/>
              <a:pathLst>
                <a:path h="698500" w="1283893">
                  <a:moveTo>
                    <a:pt x="1280467" y="361947"/>
                  </a:moveTo>
                  <a:lnTo>
                    <a:pt x="1092042" y="685803"/>
                  </a:lnTo>
                  <a:cubicBezTo>
                    <a:pt x="1087468" y="693664"/>
                    <a:pt x="1079059" y="698500"/>
                    <a:pt x="1069964" y="698500"/>
                  </a:cubicBezTo>
                  <a:lnTo>
                    <a:pt x="213927" y="698500"/>
                  </a:lnTo>
                  <a:cubicBezTo>
                    <a:pt x="204832" y="698500"/>
                    <a:pt x="196423" y="693664"/>
                    <a:pt x="191849" y="685803"/>
                  </a:cubicBezTo>
                  <a:lnTo>
                    <a:pt x="3425" y="361947"/>
                  </a:lnTo>
                  <a:cubicBezTo>
                    <a:pt x="-1142" y="354098"/>
                    <a:pt x="-1142" y="344402"/>
                    <a:pt x="3425" y="336553"/>
                  </a:cubicBezTo>
                  <a:lnTo>
                    <a:pt x="191849" y="12697"/>
                  </a:lnTo>
                  <a:cubicBezTo>
                    <a:pt x="196423" y="4836"/>
                    <a:pt x="204832" y="0"/>
                    <a:pt x="213927" y="0"/>
                  </a:cubicBezTo>
                  <a:lnTo>
                    <a:pt x="1069964" y="0"/>
                  </a:lnTo>
                  <a:cubicBezTo>
                    <a:pt x="1079059" y="0"/>
                    <a:pt x="1087468" y="4836"/>
                    <a:pt x="1092042" y="12697"/>
                  </a:cubicBezTo>
                  <a:lnTo>
                    <a:pt x="1280467" y="336553"/>
                  </a:lnTo>
                  <a:cubicBezTo>
                    <a:pt x="1285034" y="344402"/>
                    <a:pt x="1285034" y="354098"/>
                    <a:pt x="1280467" y="361947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14300" y="-85725"/>
              <a:ext cx="1063218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303067" y="2230636"/>
            <a:ext cx="4478694" cy="4114800"/>
          </a:xfrm>
          <a:custGeom>
            <a:avLst/>
            <a:gdLst/>
            <a:ahLst/>
            <a:cxnLst/>
            <a:rect r="r" b="b" t="t" l="l"/>
            <a:pathLst>
              <a:path h="4114800" w="4478694">
                <a:moveTo>
                  <a:pt x="0" y="0"/>
                </a:moveTo>
                <a:lnTo>
                  <a:pt x="4478693" y="0"/>
                </a:lnTo>
                <a:lnTo>
                  <a:pt x="44786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060940" y="2230636"/>
            <a:ext cx="4478694" cy="4114800"/>
          </a:xfrm>
          <a:custGeom>
            <a:avLst/>
            <a:gdLst/>
            <a:ahLst/>
            <a:cxnLst/>
            <a:rect r="r" b="b" t="t" l="l"/>
            <a:pathLst>
              <a:path h="4114800" w="4478694">
                <a:moveTo>
                  <a:pt x="0" y="0"/>
                </a:moveTo>
                <a:lnTo>
                  <a:pt x="4478694" y="0"/>
                </a:lnTo>
                <a:lnTo>
                  <a:pt x="4478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10023297" y="-128368"/>
            <a:ext cx="10228765" cy="5530806"/>
            <a:chOff x="0" y="0"/>
            <a:chExt cx="1291818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92" y="0"/>
              <a:ext cx="1282835" cy="698500"/>
            </a:xfrm>
            <a:custGeom>
              <a:avLst/>
              <a:gdLst/>
              <a:ahLst/>
              <a:cxnLst/>
              <a:rect r="r" b="b" t="t" l="l"/>
              <a:pathLst>
                <a:path h="698500" w="1282835">
                  <a:moveTo>
                    <a:pt x="1278952" y="363643"/>
                  </a:moveTo>
                  <a:lnTo>
                    <a:pt x="1092499" y="684107"/>
                  </a:lnTo>
                  <a:cubicBezTo>
                    <a:pt x="1087315" y="693018"/>
                    <a:pt x="1077784" y="698500"/>
                    <a:pt x="1067474" y="698500"/>
                  </a:cubicBezTo>
                  <a:lnTo>
                    <a:pt x="215359" y="698500"/>
                  </a:lnTo>
                  <a:cubicBezTo>
                    <a:pt x="205050" y="698500"/>
                    <a:pt x="195519" y="693018"/>
                    <a:pt x="190334" y="684107"/>
                  </a:cubicBezTo>
                  <a:lnTo>
                    <a:pt x="3882" y="363643"/>
                  </a:lnTo>
                  <a:cubicBezTo>
                    <a:pt x="-1295" y="354746"/>
                    <a:pt x="-1295" y="343754"/>
                    <a:pt x="3882" y="334857"/>
                  </a:cubicBezTo>
                  <a:lnTo>
                    <a:pt x="190334" y="14393"/>
                  </a:lnTo>
                  <a:cubicBezTo>
                    <a:pt x="195519" y="5482"/>
                    <a:pt x="205050" y="0"/>
                    <a:pt x="215359" y="0"/>
                  </a:cubicBezTo>
                  <a:lnTo>
                    <a:pt x="1067474" y="0"/>
                  </a:lnTo>
                  <a:cubicBezTo>
                    <a:pt x="1077784" y="0"/>
                    <a:pt x="1087315" y="5482"/>
                    <a:pt x="1092499" y="14393"/>
                  </a:cubicBezTo>
                  <a:lnTo>
                    <a:pt x="1278952" y="334857"/>
                  </a:lnTo>
                  <a:cubicBezTo>
                    <a:pt x="1284128" y="343754"/>
                    <a:pt x="1284128" y="354746"/>
                    <a:pt x="1278952" y="363643"/>
                  </a:cubicBezTo>
                  <a:close/>
                </a:path>
              </a:pathLst>
            </a:custGeom>
            <a:blipFill>
              <a:blip r:embed="rId7"/>
              <a:stretch>
                <a:fillRect l="206" t="-10927" r="206" b="-10927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-2174342" y="-1334093"/>
            <a:ext cx="4348683" cy="1969319"/>
            <a:chOff x="0" y="0"/>
            <a:chExt cx="1527063" cy="691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4370" y="0"/>
              <a:ext cx="1487192" cy="691537"/>
            </a:xfrm>
            <a:custGeom>
              <a:avLst/>
              <a:gdLst/>
              <a:ahLst/>
              <a:cxnLst/>
              <a:rect r="r" b="b" t="t" l="l"/>
              <a:pathLst>
                <a:path h="691537" w="1487192">
                  <a:moveTo>
                    <a:pt x="32599" y="0"/>
                  </a:moveTo>
                  <a:lnTo>
                    <a:pt x="1242524" y="0"/>
                  </a:lnTo>
                  <a:cubicBezTo>
                    <a:pt x="1277818" y="0"/>
                    <a:pt x="1310475" y="18687"/>
                    <a:pt x="1328357" y="49116"/>
                  </a:cubicBezTo>
                  <a:lnTo>
                    <a:pt x="1473829" y="296653"/>
                  </a:lnTo>
                  <a:cubicBezTo>
                    <a:pt x="1491647" y="326972"/>
                    <a:pt x="1491647" y="364564"/>
                    <a:pt x="1473829" y="394884"/>
                  </a:cubicBezTo>
                  <a:lnTo>
                    <a:pt x="1328357" y="642421"/>
                  </a:lnTo>
                  <a:cubicBezTo>
                    <a:pt x="1310475" y="672850"/>
                    <a:pt x="1277818" y="691537"/>
                    <a:pt x="1242524" y="691537"/>
                  </a:cubicBezTo>
                  <a:lnTo>
                    <a:pt x="32599" y="691537"/>
                  </a:lnTo>
                  <a:cubicBezTo>
                    <a:pt x="20908" y="691537"/>
                    <a:pt x="10112" y="685276"/>
                    <a:pt x="4305" y="675128"/>
                  </a:cubicBezTo>
                  <a:cubicBezTo>
                    <a:pt x="-1502" y="664981"/>
                    <a:pt x="-1429" y="652501"/>
                    <a:pt x="4494" y="642421"/>
                  </a:cubicBezTo>
                  <a:lnTo>
                    <a:pt x="149966" y="394884"/>
                  </a:lnTo>
                  <a:cubicBezTo>
                    <a:pt x="167784" y="364564"/>
                    <a:pt x="167784" y="326972"/>
                    <a:pt x="149966" y="296653"/>
                  </a:cubicBezTo>
                  <a:lnTo>
                    <a:pt x="4494" y="49116"/>
                  </a:lnTo>
                  <a:cubicBezTo>
                    <a:pt x="-1429" y="39036"/>
                    <a:pt x="-1502" y="26556"/>
                    <a:pt x="4305" y="16408"/>
                  </a:cubicBezTo>
                  <a:cubicBezTo>
                    <a:pt x="10112" y="6261"/>
                    <a:pt x="20908" y="0"/>
                    <a:pt x="32599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85725"/>
              <a:ext cx="1273063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053206" y="10124452"/>
            <a:ext cx="7295875" cy="1279620"/>
            <a:chOff x="0" y="0"/>
            <a:chExt cx="3982564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297" y="0"/>
              <a:ext cx="3969970" cy="698500"/>
            </a:xfrm>
            <a:custGeom>
              <a:avLst/>
              <a:gdLst/>
              <a:ahLst/>
              <a:cxnLst/>
              <a:rect r="r" b="b" t="t" l="l"/>
              <a:pathLst>
                <a:path h="698500" w="3969970">
                  <a:moveTo>
                    <a:pt x="3964527" y="369428"/>
                  </a:moveTo>
                  <a:lnTo>
                    <a:pt x="3784807" y="678322"/>
                  </a:lnTo>
                  <a:cubicBezTo>
                    <a:pt x="3777538" y="690815"/>
                    <a:pt x="3764175" y="698500"/>
                    <a:pt x="3749722" y="698500"/>
                  </a:cubicBezTo>
                  <a:lnTo>
                    <a:pt x="220248" y="698500"/>
                  </a:lnTo>
                  <a:cubicBezTo>
                    <a:pt x="205795" y="698500"/>
                    <a:pt x="192431" y="690815"/>
                    <a:pt x="185163" y="678322"/>
                  </a:cubicBezTo>
                  <a:lnTo>
                    <a:pt x="5443" y="369428"/>
                  </a:lnTo>
                  <a:cubicBezTo>
                    <a:pt x="-1814" y="356955"/>
                    <a:pt x="-1814" y="341545"/>
                    <a:pt x="5443" y="329072"/>
                  </a:cubicBezTo>
                  <a:lnTo>
                    <a:pt x="185163" y="20178"/>
                  </a:lnTo>
                  <a:cubicBezTo>
                    <a:pt x="192431" y="7685"/>
                    <a:pt x="205795" y="0"/>
                    <a:pt x="220248" y="0"/>
                  </a:cubicBezTo>
                  <a:lnTo>
                    <a:pt x="3749722" y="0"/>
                  </a:lnTo>
                  <a:cubicBezTo>
                    <a:pt x="3764175" y="0"/>
                    <a:pt x="3777538" y="7685"/>
                    <a:pt x="3784807" y="20178"/>
                  </a:cubicBezTo>
                  <a:lnTo>
                    <a:pt x="3964527" y="329072"/>
                  </a:lnTo>
                  <a:cubicBezTo>
                    <a:pt x="3971784" y="341545"/>
                    <a:pt x="3971784" y="356955"/>
                    <a:pt x="3964527" y="369428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85725"/>
              <a:ext cx="3753964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113693" y="9076702"/>
            <a:ext cx="3427690" cy="1574029"/>
          </a:xfrm>
          <a:custGeom>
            <a:avLst/>
            <a:gdLst/>
            <a:ahLst/>
            <a:cxnLst/>
            <a:rect r="r" b="b" t="t" l="l"/>
            <a:pathLst>
              <a:path h="1574029" w="3427690">
                <a:moveTo>
                  <a:pt x="0" y="0"/>
                </a:moveTo>
                <a:lnTo>
                  <a:pt x="3427690" y="0"/>
                </a:lnTo>
                <a:lnTo>
                  <a:pt x="3427690" y="1574030"/>
                </a:lnTo>
                <a:lnTo>
                  <a:pt x="0" y="15740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5192" b="-108558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51784" t="-261457" r="-92831" b="-825712"/>
            </a:stretch>
          </a:blipFill>
        </p:spPr>
      </p:sp>
      <p:graphicFrame>
        <p:nvGraphicFramePr>
          <p:cNvPr name="Object 22" id="22"/>
          <p:cNvGraphicFramePr/>
          <p:nvPr/>
        </p:nvGraphicFramePr>
        <p:xfrm>
          <a:off x="1409700" y="3853067"/>
          <a:ext cx="3771900" cy="3143250"/>
        </p:xfrm>
        <a:graphic>
          <a:graphicData uri="http://schemas.openxmlformats.org/presentationml/2006/ole">
            <p:oleObj imgW="4521200" imgH="38862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1409700" y="2085566"/>
            <a:ext cx="7427814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-419" b="true">
                <a:solidFill>
                  <a:srgbClr val="1C1C1C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DATASET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9700" y="3006316"/>
            <a:ext cx="7427814" cy="47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T</a:t>
            </a:r>
            <a:r>
              <a:rPr lang="en-US" sz="2499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otal dataset: 200 citra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9700" y="7635927"/>
            <a:ext cx="4117812" cy="206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10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Pembag</a:t>
            </a:r>
            <a:r>
              <a:rPr lang="en-US" sz="210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ian Dataset</a:t>
            </a:r>
          </a:p>
          <a:p>
            <a:pPr algn="l" marL="453821" indent="-226910" lvl="1">
              <a:lnSpc>
                <a:spcPts val="3363"/>
              </a:lnSpc>
              <a:buFont typeface="Arial"/>
              <a:buChar char="•"/>
            </a:pPr>
            <a:r>
              <a:rPr lang="en-US" sz="210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Training: 140 citra (70%)</a:t>
            </a:r>
          </a:p>
          <a:p>
            <a:pPr algn="l" marL="453821" indent="-226910" lvl="1">
              <a:lnSpc>
                <a:spcPts val="3363"/>
              </a:lnSpc>
              <a:buFont typeface="Arial"/>
              <a:buChar char="•"/>
            </a:pPr>
            <a:r>
              <a:rPr lang="en-US" sz="210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Validation: 28 citra (15%)</a:t>
            </a:r>
          </a:p>
          <a:p>
            <a:pPr algn="l" marL="453821" indent="-226910" lvl="1">
              <a:lnSpc>
                <a:spcPts val="3363"/>
              </a:lnSpc>
              <a:buFont typeface="Arial"/>
              <a:buChar char="•"/>
            </a:pPr>
            <a:r>
              <a:rPr lang="en-US" sz="210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Testing: 32 citra (15%)</a:t>
            </a:r>
          </a:p>
          <a:p>
            <a:pPr algn="l">
              <a:lnSpc>
                <a:spcPts val="336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185255" y="7635927"/>
            <a:ext cx="4117812" cy="206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10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Set</a:t>
            </a:r>
            <a:r>
              <a:rPr lang="en-US" sz="210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iap kelas:</a:t>
            </a:r>
          </a:p>
          <a:p>
            <a:pPr algn="l" marL="453821" indent="-226910" lvl="1">
              <a:lnSpc>
                <a:spcPts val="3363"/>
              </a:lnSpc>
              <a:buFont typeface="Arial"/>
              <a:buChar char="•"/>
            </a:pPr>
            <a:r>
              <a:rPr lang="en-US" sz="210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35 t</a:t>
            </a:r>
            <a:r>
              <a:rPr lang="en-US" sz="210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raining</a:t>
            </a:r>
          </a:p>
          <a:p>
            <a:pPr algn="l" marL="453821" indent="-226910" lvl="1">
              <a:lnSpc>
                <a:spcPts val="3363"/>
              </a:lnSpc>
              <a:buFont typeface="Arial"/>
              <a:buChar char="•"/>
            </a:pPr>
            <a:r>
              <a:rPr lang="en-US" sz="210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7 v</a:t>
            </a:r>
            <a:r>
              <a:rPr lang="en-US" sz="210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alidation</a:t>
            </a:r>
          </a:p>
          <a:p>
            <a:pPr algn="l" marL="453821" indent="-226910" lvl="1">
              <a:lnSpc>
                <a:spcPts val="3363"/>
              </a:lnSpc>
              <a:buFont typeface="Arial"/>
              <a:buChar char="•"/>
            </a:pPr>
            <a:r>
              <a:rPr lang="en-US" sz="210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8 testing</a:t>
            </a:r>
          </a:p>
          <a:p>
            <a:pPr algn="l">
              <a:lnSpc>
                <a:spcPts val="336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90871" y="-636151"/>
            <a:ext cx="5165255" cy="1200289"/>
            <a:chOff x="0" y="0"/>
            <a:chExt cx="1509496" cy="3507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9496" cy="350773"/>
            </a:xfrm>
            <a:custGeom>
              <a:avLst/>
              <a:gdLst/>
              <a:ahLst/>
              <a:cxnLst/>
              <a:rect r="r" b="b" t="t" l="l"/>
              <a:pathLst>
                <a:path h="350773" w="1509496">
                  <a:moveTo>
                    <a:pt x="1306296" y="0"/>
                  </a:moveTo>
                  <a:lnTo>
                    <a:pt x="0" y="0"/>
                  </a:lnTo>
                  <a:lnTo>
                    <a:pt x="203200" y="350773"/>
                  </a:lnTo>
                  <a:lnTo>
                    <a:pt x="1509496" y="350773"/>
                  </a:lnTo>
                  <a:lnTo>
                    <a:pt x="1306296" y="0"/>
                  </a:ln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85725"/>
              <a:ext cx="1306296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04321" y="-693265"/>
            <a:ext cx="9734834" cy="6668586"/>
            <a:chOff x="0" y="0"/>
            <a:chExt cx="1019674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719" y="0"/>
              <a:ext cx="1010235" cy="698500"/>
            </a:xfrm>
            <a:custGeom>
              <a:avLst/>
              <a:gdLst/>
              <a:ahLst/>
              <a:cxnLst/>
              <a:rect r="r" b="b" t="t" l="l"/>
              <a:pathLst>
                <a:path h="698500" w="1010235">
                  <a:moveTo>
                    <a:pt x="1006156" y="364373"/>
                  </a:moveTo>
                  <a:lnTo>
                    <a:pt x="820553" y="683377"/>
                  </a:lnTo>
                  <a:cubicBezTo>
                    <a:pt x="815106" y="692740"/>
                    <a:pt x="805091" y="698500"/>
                    <a:pt x="794259" y="698500"/>
                  </a:cubicBezTo>
                  <a:lnTo>
                    <a:pt x="215977" y="698500"/>
                  </a:lnTo>
                  <a:cubicBezTo>
                    <a:pt x="205145" y="698500"/>
                    <a:pt x="195130" y="692740"/>
                    <a:pt x="189682" y="683377"/>
                  </a:cubicBezTo>
                  <a:lnTo>
                    <a:pt x="4080" y="364373"/>
                  </a:lnTo>
                  <a:cubicBezTo>
                    <a:pt x="-1359" y="355025"/>
                    <a:pt x="-1359" y="343475"/>
                    <a:pt x="4080" y="334127"/>
                  </a:cubicBezTo>
                  <a:lnTo>
                    <a:pt x="189682" y="15123"/>
                  </a:lnTo>
                  <a:cubicBezTo>
                    <a:pt x="195130" y="5760"/>
                    <a:pt x="205145" y="0"/>
                    <a:pt x="215977" y="0"/>
                  </a:cubicBezTo>
                  <a:lnTo>
                    <a:pt x="794259" y="0"/>
                  </a:lnTo>
                  <a:cubicBezTo>
                    <a:pt x="805091" y="0"/>
                    <a:pt x="815106" y="5760"/>
                    <a:pt x="820553" y="15123"/>
                  </a:cubicBezTo>
                  <a:lnTo>
                    <a:pt x="1006156" y="334127"/>
                  </a:lnTo>
                  <a:cubicBezTo>
                    <a:pt x="1011595" y="343475"/>
                    <a:pt x="1011595" y="355025"/>
                    <a:pt x="1006156" y="364373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85725"/>
              <a:ext cx="791074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95650" y="10044638"/>
            <a:ext cx="6049555" cy="1326683"/>
            <a:chOff x="0" y="0"/>
            <a:chExt cx="1593298" cy="3494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958" y="0"/>
              <a:ext cx="1569382" cy="349414"/>
            </a:xfrm>
            <a:custGeom>
              <a:avLst/>
              <a:gdLst/>
              <a:ahLst/>
              <a:cxnLst/>
              <a:rect r="r" b="b" t="t" l="l"/>
              <a:pathLst>
                <a:path h="349414" w="1569382">
                  <a:moveTo>
                    <a:pt x="219397" y="0"/>
                  </a:moveTo>
                  <a:lnTo>
                    <a:pt x="1553186" y="0"/>
                  </a:lnTo>
                  <a:cubicBezTo>
                    <a:pt x="1558981" y="0"/>
                    <a:pt x="1564335" y="3097"/>
                    <a:pt x="1567225" y="8120"/>
                  </a:cubicBezTo>
                  <a:cubicBezTo>
                    <a:pt x="1570115" y="13144"/>
                    <a:pt x="1570100" y="19328"/>
                    <a:pt x="1567187" y="24338"/>
                  </a:cubicBezTo>
                  <a:lnTo>
                    <a:pt x="1392294" y="325076"/>
                  </a:lnTo>
                  <a:cubicBezTo>
                    <a:pt x="1383532" y="340144"/>
                    <a:pt x="1367416" y="349414"/>
                    <a:pt x="1349986" y="349414"/>
                  </a:cubicBezTo>
                  <a:lnTo>
                    <a:pt x="16197" y="349414"/>
                  </a:lnTo>
                  <a:cubicBezTo>
                    <a:pt x="10401" y="349414"/>
                    <a:pt x="5047" y="346318"/>
                    <a:pt x="2158" y="341294"/>
                  </a:cubicBezTo>
                  <a:cubicBezTo>
                    <a:pt x="-732" y="336271"/>
                    <a:pt x="-718" y="330086"/>
                    <a:pt x="2196" y="325076"/>
                  </a:cubicBezTo>
                  <a:lnTo>
                    <a:pt x="177088" y="24338"/>
                  </a:lnTo>
                  <a:cubicBezTo>
                    <a:pt x="185851" y="9270"/>
                    <a:pt x="201966" y="0"/>
                    <a:pt x="219397" y="0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85725"/>
              <a:ext cx="1390098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50372" y="-2358193"/>
            <a:ext cx="5370462" cy="9138465"/>
            <a:chOff x="0" y="0"/>
            <a:chExt cx="406400" cy="691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567" y="0"/>
              <a:ext cx="384204" cy="691537"/>
            </a:xfrm>
            <a:custGeom>
              <a:avLst/>
              <a:gdLst/>
              <a:ahLst/>
              <a:cxnLst/>
              <a:rect r="r" b="b" t="t" l="l"/>
              <a:pathLst>
                <a:path h="691537" w="384204">
                  <a:moveTo>
                    <a:pt x="18148" y="0"/>
                  </a:moveTo>
                  <a:lnTo>
                    <a:pt x="157918" y="0"/>
                  </a:lnTo>
                  <a:cubicBezTo>
                    <a:pt x="177567" y="0"/>
                    <a:pt x="195747" y="10403"/>
                    <a:pt x="205702" y="27343"/>
                  </a:cubicBezTo>
                  <a:lnTo>
                    <a:pt x="376764" y="318426"/>
                  </a:lnTo>
                  <a:cubicBezTo>
                    <a:pt x="386684" y="335305"/>
                    <a:pt x="386684" y="356232"/>
                    <a:pt x="376764" y="373111"/>
                  </a:cubicBezTo>
                  <a:lnTo>
                    <a:pt x="205702" y="664194"/>
                  </a:lnTo>
                  <a:cubicBezTo>
                    <a:pt x="195747" y="681134"/>
                    <a:pt x="177567" y="691537"/>
                    <a:pt x="157918" y="691537"/>
                  </a:cubicBezTo>
                  <a:lnTo>
                    <a:pt x="18148" y="691537"/>
                  </a:lnTo>
                  <a:cubicBezTo>
                    <a:pt x="11639" y="691537"/>
                    <a:pt x="5629" y="688051"/>
                    <a:pt x="2396" y="682402"/>
                  </a:cubicBezTo>
                  <a:cubicBezTo>
                    <a:pt x="-836" y="676753"/>
                    <a:pt x="-796" y="669806"/>
                    <a:pt x="2502" y="664194"/>
                  </a:cubicBezTo>
                  <a:lnTo>
                    <a:pt x="173564" y="373111"/>
                  </a:lnTo>
                  <a:cubicBezTo>
                    <a:pt x="183484" y="356232"/>
                    <a:pt x="183484" y="335305"/>
                    <a:pt x="173564" y="318426"/>
                  </a:cubicBezTo>
                  <a:lnTo>
                    <a:pt x="2502" y="27343"/>
                  </a:lnTo>
                  <a:cubicBezTo>
                    <a:pt x="-796" y="21731"/>
                    <a:pt x="-836" y="14784"/>
                    <a:pt x="2396" y="9135"/>
                  </a:cubicBezTo>
                  <a:cubicBezTo>
                    <a:pt x="5629" y="3485"/>
                    <a:pt x="11639" y="0"/>
                    <a:pt x="18148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85725"/>
              <a:ext cx="152400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973499" y="2343690"/>
            <a:ext cx="4478694" cy="4114800"/>
          </a:xfrm>
          <a:custGeom>
            <a:avLst/>
            <a:gdLst/>
            <a:ahLst/>
            <a:cxnLst/>
            <a:rect r="r" b="b" t="t" l="l"/>
            <a:pathLst>
              <a:path h="4114800" w="4478694">
                <a:moveTo>
                  <a:pt x="0" y="0"/>
                </a:moveTo>
                <a:lnTo>
                  <a:pt x="4478693" y="0"/>
                </a:lnTo>
                <a:lnTo>
                  <a:pt x="44786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9642089" y="2343690"/>
            <a:ext cx="4478694" cy="4114800"/>
          </a:xfrm>
          <a:custGeom>
            <a:avLst/>
            <a:gdLst/>
            <a:ahLst/>
            <a:cxnLst/>
            <a:rect r="r" b="b" t="t" l="l"/>
            <a:pathLst>
              <a:path h="4114800" w="4478694">
                <a:moveTo>
                  <a:pt x="0" y="0"/>
                </a:moveTo>
                <a:lnTo>
                  <a:pt x="4478694" y="0"/>
                </a:lnTo>
                <a:lnTo>
                  <a:pt x="4478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7800604" y="-401261"/>
            <a:ext cx="9676183" cy="6084578"/>
            <a:chOff x="0" y="0"/>
            <a:chExt cx="1110811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748" y="0"/>
              <a:ext cx="1101315" cy="698500"/>
            </a:xfrm>
            <a:custGeom>
              <a:avLst/>
              <a:gdLst/>
              <a:ahLst/>
              <a:cxnLst/>
              <a:rect r="r" b="b" t="t" l="l"/>
              <a:pathLst>
                <a:path h="698500" w="1101315">
                  <a:moveTo>
                    <a:pt x="1097211" y="364464"/>
                  </a:moveTo>
                  <a:lnTo>
                    <a:pt x="911715" y="683286"/>
                  </a:lnTo>
                  <a:cubicBezTo>
                    <a:pt x="906234" y="692705"/>
                    <a:pt x="896158" y="698500"/>
                    <a:pt x="885260" y="698500"/>
                  </a:cubicBezTo>
                  <a:lnTo>
                    <a:pt x="216054" y="698500"/>
                  </a:lnTo>
                  <a:cubicBezTo>
                    <a:pt x="205156" y="698500"/>
                    <a:pt x="195080" y="692705"/>
                    <a:pt x="189600" y="683286"/>
                  </a:cubicBezTo>
                  <a:lnTo>
                    <a:pt x="4104" y="364464"/>
                  </a:lnTo>
                  <a:cubicBezTo>
                    <a:pt x="-1368" y="355060"/>
                    <a:pt x="-1368" y="343441"/>
                    <a:pt x="4104" y="334036"/>
                  </a:cubicBezTo>
                  <a:lnTo>
                    <a:pt x="189600" y="15214"/>
                  </a:lnTo>
                  <a:cubicBezTo>
                    <a:pt x="195080" y="5795"/>
                    <a:pt x="205156" y="0"/>
                    <a:pt x="216054" y="0"/>
                  </a:cubicBezTo>
                  <a:lnTo>
                    <a:pt x="885260" y="0"/>
                  </a:lnTo>
                  <a:cubicBezTo>
                    <a:pt x="896158" y="0"/>
                    <a:pt x="906234" y="5795"/>
                    <a:pt x="911715" y="15214"/>
                  </a:cubicBezTo>
                  <a:lnTo>
                    <a:pt x="1097211" y="334036"/>
                  </a:lnTo>
                  <a:cubicBezTo>
                    <a:pt x="1102683" y="343441"/>
                    <a:pt x="1102683" y="355060"/>
                    <a:pt x="1097211" y="364464"/>
                  </a:cubicBezTo>
                  <a:close/>
                </a:path>
              </a:pathLst>
            </a:custGeom>
            <a:blipFill>
              <a:blip r:embed="rId5"/>
              <a:stretch>
                <a:fillRect l="158" t="-2455" r="158" b="-2455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4241699" y="8238041"/>
            <a:ext cx="3857165" cy="2351041"/>
          </a:xfrm>
          <a:custGeom>
            <a:avLst/>
            <a:gdLst/>
            <a:ahLst/>
            <a:cxnLst/>
            <a:rect r="r" b="b" t="t" l="l"/>
            <a:pathLst>
              <a:path h="2351041" w="3857165">
                <a:moveTo>
                  <a:pt x="0" y="0"/>
                </a:moveTo>
                <a:lnTo>
                  <a:pt x="3857165" y="0"/>
                </a:lnTo>
                <a:lnTo>
                  <a:pt x="3857165" y="2351041"/>
                </a:lnTo>
                <a:lnTo>
                  <a:pt x="0" y="23510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74302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-2035293" y="9456944"/>
            <a:ext cx="7290166" cy="2502071"/>
            <a:chOff x="0" y="0"/>
            <a:chExt cx="1022031" cy="3507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897" y="0"/>
              <a:ext cx="1002237" cy="350773"/>
            </a:xfrm>
            <a:custGeom>
              <a:avLst/>
              <a:gdLst/>
              <a:ahLst/>
              <a:cxnLst/>
              <a:rect r="r" b="b" t="t" l="l"/>
              <a:pathLst>
                <a:path h="350773" w="1002237">
                  <a:moveTo>
                    <a:pt x="785571" y="0"/>
                  </a:moveTo>
                  <a:lnTo>
                    <a:pt x="13466" y="0"/>
                  </a:lnTo>
                  <a:cubicBezTo>
                    <a:pt x="8652" y="0"/>
                    <a:pt x="4204" y="2570"/>
                    <a:pt x="1799" y="6742"/>
                  </a:cubicBezTo>
                  <a:cubicBezTo>
                    <a:pt x="-605" y="10913"/>
                    <a:pt x="-599" y="16050"/>
                    <a:pt x="1814" y="20216"/>
                  </a:cubicBezTo>
                  <a:lnTo>
                    <a:pt x="181592" y="330557"/>
                  </a:lnTo>
                  <a:cubicBezTo>
                    <a:pt x="188840" y="343069"/>
                    <a:pt x="202206" y="350773"/>
                    <a:pt x="216666" y="350773"/>
                  </a:cubicBezTo>
                  <a:lnTo>
                    <a:pt x="988771" y="350773"/>
                  </a:lnTo>
                  <a:cubicBezTo>
                    <a:pt x="993585" y="350773"/>
                    <a:pt x="998033" y="348203"/>
                    <a:pt x="1000437" y="344031"/>
                  </a:cubicBezTo>
                  <a:cubicBezTo>
                    <a:pt x="1002842" y="339860"/>
                    <a:pt x="1002836" y="334723"/>
                    <a:pt x="1000423" y="330557"/>
                  </a:cubicBezTo>
                  <a:lnTo>
                    <a:pt x="820645" y="20216"/>
                  </a:lnTo>
                  <a:cubicBezTo>
                    <a:pt x="813396" y="7704"/>
                    <a:pt x="800031" y="0"/>
                    <a:pt x="785571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85725"/>
              <a:ext cx="818831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361545" y="1082106"/>
            <a:ext cx="784055" cy="859238"/>
          </a:xfrm>
          <a:custGeom>
            <a:avLst/>
            <a:gdLst/>
            <a:ahLst/>
            <a:cxnLst/>
            <a:rect r="r" b="b" t="t" l="l"/>
            <a:pathLst>
              <a:path h="859238" w="784055">
                <a:moveTo>
                  <a:pt x="0" y="0"/>
                </a:moveTo>
                <a:lnTo>
                  <a:pt x="784055" y="0"/>
                </a:lnTo>
                <a:lnTo>
                  <a:pt x="784055" y="859238"/>
                </a:lnTo>
                <a:lnTo>
                  <a:pt x="0" y="8592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4" id="24"/>
          <p:cNvSpPr txBox="true"/>
          <p:nvPr/>
        </p:nvSpPr>
        <p:spPr>
          <a:xfrm rot="0">
            <a:off x="233766" y="2344389"/>
            <a:ext cx="8015866" cy="88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9"/>
              </a:lnSpc>
            </a:pPr>
            <a:r>
              <a:rPr lang="en-US" sz="6699" spc="-401">
                <a:solidFill>
                  <a:srgbClr val="1C1C1C"/>
                </a:solidFill>
                <a:latin typeface="Helvetica Now"/>
                <a:ea typeface="Helvetica Now"/>
                <a:cs typeface="Helvetica Now"/>
                <a:sym typeface="Helvetica Now"/>
              </a:rPr>
              <a:t>PREPROCESSING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77570" y="7388840"/>
            <a:ext cx="5600001" cy="310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220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3. Data Augm</a:t>
            </a:r>
            <a:r>
              <a:rPr lang="en-US" sz="2220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entation</a:t>
            </a:r>
          </a:p>
          <a:p>
            <a:pPr algn="l">
              <a:lnSpc>
                <a:spcPts val="3552"/>
              </a:lnSpc>
            </a:pPr>
            <a:r>
              <a:rPr lang="en-US" sz="2220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 Pada skenario tertentu digunakan:</a:t>
            </a:r>
          </a:p>
          <a:p>
            <a:pPr algn="l" marL="479298" indent="-239649" lvl="1">
              <a:lnSpc>
                <a:spcPts val="3552"/>
              </a:lnSpc>
              <a:buFont typeface="Arial"/>
              <a:buChar char="•"/>
            </a:pPr>
            <a:r>
              <a:rPr lang="en-US" sz="2220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Rotation</a:t>
            </a:r>
          </a:p>
          <a:p>
            <a:pPr algn="l" marL="479298" indent="-239649" lvl="1">
              <a:lnSpc>
                <a:spcPts val="3552"/>
              </a:lnSpc>
              <a:buFont typeface="Arial"/>
              <a:buChar char="•"/>
            </a:pPr>
            <a:r>
              <a:rPr lang="en-US" sz="2220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Width/height shift</a:t>
            </a:r>
          </a:p>
          <a:p>
            <a:pPr algn="l" marL="479298" indent="-239649" lvl="1">
              <a:lnSpc>
                <a:spcPts val="3552"/>
              </a:lnSpc>
              <a:buFont typeface="Arial"/>
              <a:buChar char="•"/>
            </a:pPr>
            <a:r>
              <a:rPr lang="en-US" sz="2220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Zoom</a:t>
            </a:r>
          </a:p>
          <a:p>
            <a:pPr algn="l" marL="479298" indent="-239649" lvl="1">
              <a:lnSpc>
                <a:spcPts val="3552"/>
              </a:lnSpc>
              <a:buFont typeface="Arial"/>
              <a:buChar char="•"/>
            </a:pPr>
            <a:r>
              <a:rPr lang="en-US" sz="2220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Horizontal flip</a:t>
            </a:r>
          </a:p>
          <a:p>
            <a:pPr algn="l">
              <a:lnSpc>
                <a:spcPts val="3552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57929" y="3935095"/>
            <a:ext cx="7591703" cy="353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S</a:t>
            </a: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ebelum masuk ke model, citra melalui beberapa tahap:</a:t>
            </a:r>
          </a:p>
          <a:p>
            <a:pPr algn="l">
              <a:lnSpc>
                <a:spcPts val="3557"/>
              </a:lnSpc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1. Resize</a:t>
            </a:r>
          </a:p>
          <a:p>
            <a:pPr algn="l" marL="480018" indent="-240009" lvl="1">
              <a:lnSpc>
                <a:spcPts val="3557"/>
              </a:lnSpc>
              <a:buFont typeface="Arial"/>
              <a:buChar char="•"/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Ukuran citra diubah menjadi 224 × 224 piksel</a:t>
            </a:r>
          </a:p>
          <a:p>
            <a:pPr algn="l" marL="480018" indent="-240009" lvl="1">
              <a:lnSpc>
                <a:spcPts val="3557"/>
              </a:lnSpc>
              <a:buFont typeface="Arial"/>
              <a:buChar char="•"/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Menyesuaikan input MobileNetV2</a:t>
            </a:r>
          </a:p>
          <a:p>
            <a:pPr algn="l">
              <a:lnSpc>
                <a:spcPts val="3557"/>
              </a:lnSpc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2. Normalisasi</a:t>
            </a:r>
          </a:p>
          <a:p>
            <a:pPr algn="l" marL="480018" indent="-240009" lvl="1">
              <a:lnSpc>
                <a:spcPts val="3557"/>
              </a:lnSpc>
              <a:buFont typeface="Arial"/>
              <a:buChar char="•"/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Nilai piksel dinormalisasi menggunakan:</a:t>
            </a:r>
          </a:p>
          <a:p>
            <a:pPr algn="l" marL="480018" indent="-240009" lvl="1">
              <a:lnSpc>
                <a:spcPts val="3557"/>
              </a:lnSpc>
              <a:buFont typeface="Arial"/>
              <a:buChar char="•"/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rescale = 1/255</a:t>
            </a:r>
          </a:p>
          <a:p>
            <a:pPr algn="l">
              <a:lnSpc>
                <a:spcPts val="355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55141" y="3400394"/>
            <a:ext cx="6660565" cy="48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599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Prepr</a:t>
            </a:r>
            <a:r>
              <a:rPr lang="en-US" sz="2599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ocessing Data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51784" t="-261457" r="-92831" b="-82571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3608516">
            <a:off x="10753144" y="-1328175"/>
            <a:ext cx="3669196" cy="2366702"/>
            <a:chOff x="0" y="0"/>
            <a:chExt cx="543818" cy="3507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8602" y="0"/>
              <a:ext cx="486613" cy="350773"/>
            </a:xfrm>
            <a:custGeom>
              <a:avLst/>
              <a:gdLst/>
              <a:ahLst/>
              <a:cxnLst/>
              <a:rect r="r" b="b" t="t" l="l"/>
              <a:pathLst>
                <a:path h="350773" w="486613">
                  <a:moveTo>
                    <a:pt x="244496" y="0"/>
                  </a:moveTo>
                  <a:lnTo>
                    <a:pt x="38917" y="0"/>
                  </a:lnTo>
                  <a:cubicBezTo>
                    <a:pt x="25004" y="0"/>
                    <a:pt x="12148" y="7428"/>
                    <a:pt x="5200" y="19483"/>
                  </a:cubicBezTo>
                  <a:cubicBezTo>
                    <a:pt x="-1748" y="31538"/>
                    <a:pt x="-1732" y="46385"/>
                    <a:pt x="5243" y="58424"/>
                  </a:cubicBezTo>
                  <a:lnTo>
                    <a:pt x="140753" y="292349"/>
                  </a:lnTo>
                  <a:cubicBezTo>
                    <a:pt x="161701" y="328510"/>
                    <a:pt x="200327" y="350773"/>
                    <a:pt x="242117" y="350773"/>
                  </a:cubicBezTo>
                  <a:lnTo>
                    <a:pt x="447696" y="350773"/>
                  </a:lnTo>
                  <a:cubicBezTo>
                    <a:pt x="461610" y="350773"/>
                    <a:pt x="474466" y="343345"/>
                    <a:pt x="481414" y="331290"/>
                  </a:cubicBezTo>
                  <a:cubicBezTo>
                    <a:pt x="488362" y="319235"/>
                    <a:pt x="488345" y="304388"/>
                    <a:pt x="481371" y="292349"/>
                  </a:cubicBezTo>
                  <a:lnTo>
                    <a:pt x="345860" y="58424"/>
                  </a:lnTo>
                  <a:cubicBezTo>
                    <a:pt x="324913" y="22263"/>
                    <a:pt x="286287" y="0"/>
                    <a:pt x="24449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85725"/>
              <a:ext cx="340618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49450" y="8760916"/>
            <a:ext cx="3965520" cy="2013887"/>
          </a:xfrm>
          <a:custGeom>
            <a:avLst/>
            <a:gdLst/>
            <a:ahLst/>
            <a:cxnLst/>
            <a:rect r="r" b="b" t="t" l="l"/>
            <a:pathLst>
              <a:path h="2013887" w="3965520">
                <a:moveTo>
                  <a:pt x="0" y="0"/>
                </a:moveTo>
                <a:lnTo>
                  <a:pt x="3965520" y="0"/>
                </a:lnTo>
                <a:lnTo>
                  <a:pt x="3965520" y="2013887"/>
                </a:lnTo>
                <a:lnTo>
                  <a:pt x="0" y="2013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6965" b="-142059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7" id="7"/>
          <p:cNvGrpSpPr/>
          <p:nvPr/>
        </p:nvGrpSpPr>
        <p:grpSpPr>
          <a:xfrm rot="0">
            <a:off x="11957560" y="-841322"/>
            <a:ext cx="7606870" cy="9862360"/>
            <a:chOff x="0" y="0"/>
            <a:chExt cx="533385" cy="6915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78" y="0"/>
              <a:ext cx="517714" cy="691537"/>
            </a:xfrm>
            <a:custGeom>
              <a:avLst/>
              <a:gdLst/>
              <a:ahLst/>
              <a:cxnLst/>
              <a:rect r="r" b="b" t="t" l="l"/>
              <a:pathLst>
                <a:path h="691537" w="517714">
                  <a:moveTo>
                    <a:pt x="12813" y="0"/>
                  </a:moveTo>
                  <a:lnTo>
                    <a:pt x="298216" y="0"/>
                  </a:lnTo>
                  <a:cubicBezTo>
                    <a:pt x="312088" y="0"/>
                    <a:pt x="324923" y="7344"/>
                    <a:pt x="331951" y="19304"/>
                  </a:cubicBezTo>
                  <a:lnTo>
                    <a:pt x="512462" y="326465"/>
                  </a:lnTo>
                  <a:cubicBezTo>
                    <a:pt x="519465" y="338381"/>
                    <a:pt x="519465" y="353156"/>
                    <a:pt x="512462" y="365072"/>
                  </a:cubicBezTo>
                  <a:lnTo>
                    <a:pt x="331951" y="672233"/>
                  </a:lnTo>
                  <a:cubicBezTo>
                    <a:pt x="324923" y="684192"/>
                    <a:pt x="312088" y="691537"/>
                    <a:pt x="298216" y="691537"/>
                  </a:cubicBezTo>
                  <a:lnTo>
                    <a:pt x="12813" y="691537"/>
                  </a:lnTo>
                  <a:cubicBezTo>
                    <a:pt x="8218" y="691537"/>
                    <a:pt x="3974" y="689076"/>
                    <a:pt x="1692" y="685088"/>
                  </a:cubicBezTo>
                  <a:cubicBezTo>
                    <a:pt x="-590" y="681100"/>
                    <a:pt x="-562" y="676195"/>
                    <a:pt x="1766" y="672233"/>
                  </a:cubicBezTo>
                  <a:lnTo>
                    <a:pt x="182278" y="365072"/>
                  </a:lnTo>
                  <a:cubicBezTo>
                    <a:pt x="189281" y="353156"/>
                    <a:pt x="189281" y="338381"/>
                    <a:pt x="182278" y="326465"/>
                  </a:cubicBezTo>
                  <a:lnTo>
                    <a:pt x="1766" y="19304"/>
                  </a:lnTo>
                  <a:cubicBezTo>
                    <a:pt x="-562" y="15342"/>
                    <a:pt x="-590" y="10437"/>
                    <a:pt x="1692" y="6449"/>
                  </a:cubicBezTo>
                  <a:cubicBezTo>
                    <a:pt x="3974" y="2461"/>
                    <a:pt x="8218" y="0"/>
                    <a:pt x="12813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85725"/>
              <a:ext cx="279385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0191802" y="2431709"/>
            <a:ext cx="3933216" cy="5125166"/>
            <a:chOff x="0" y="0"/>
            <a:chExt cx="530707" cy="6915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8524" y="0"/>
              <a:ext cx="500401" cy="691537"/>
            </a:xfrm>
            <a:custGeom>
              <a:avLst/>
              <a:gdLst/>
              <a:ahLst/>
              <a:cxnLst/>
              <a:rect r="r" b="b" t="t" l="l"/>
              <a:pathLst>
                <a:path h="691537" w="500401">
                  <a:moveTo>
                    <a:pt x="24780" y="0"/>
                  </a:moveTo>
                  <a:lnTo>
                    <a:pt x="265680" y="0"/>
                  </a:lnTo>
                  <a:cubicBezTo>
                    <a:pt x="292508" y="0"/>
                    <a:pt x="317331" y="14204"/>
                    <a:pt x="330924" y="37334"/>
                  </a:cubicBezTo>
                  <a:lnTo>
                    <a:pt x="490243" y="308434"/>
                  </a:lnTo>
                  <a:cubicBezTo>
                    <a:pt x="503787" y="331481"/>
                    <a:pt x="503787" y="360056"/>
                    <a:pt x="490243" y="383102"/>
                  </a:cubicBezTo>
                  <a:lnTo>
                    <a:pt x="330924" y="654203"/>
                  </a:lnTo>
                  <a:cubicBezTo>
                    <a:pt x="317331" y="677333"/>
                    <a:pt x="292508" y="691537"/>
                    <a:pt x="265680" y="691537"/>
                  </a:cubicBezTo>
                  <a:lnTo>
                    <a:pt x="24780" y="691537"/>
                  </a:lnTo>
                  <a:cubicBezTo>
                    <a:pt x="15893" y="691537"/>
                    <a:pt x="7686" y="686778"/>
                    <a:pt x="3273" y="679064"/>
                  </a:cubicBezTo>
                  <a:cubicBezTo>
                    <a:pt x="-1141" y="671351"/>
                    <a:pt x="-1086" y="661865"/>
                    <a:pt x="3416" y="654203"/>
                  </a:cubicBezTo>
                  <a:lnTo>
                    <a:pt x="162736" y="383102"/>
                  </a:lnTo>
                  <a:cubicBezTo>
                    <a:pt x="176280" y="360056"/>
                    <a:pt x="176280" y="331481"/>
                    <a:pt x="162736" y="308434"/>
                  </a:cubicBezTo>
                  <a:lnTo>
                    <a:pt x="3416" y="37334"/>
                  </a:lnTo>
                  <a:cubicBezTo>
                    <a:pt x="-1086" y="29672"/>
                    <a:pt x="-1141" y="20186"/>
                    <a:pt x="3273" y="12472"/>
                  </a:cubicBezTo>
                  <a:cubicBezTo>
                    <a:pt x="7686" y="4759"/>
                    <a:pt x="15893" y="0"/>
                    <a:pt x="24780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85725"/>
              <a:ext cx="276707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095844" y="3503204"/>
            <a:ext cx="6192156" cy="5689043"/>
          </a:xfrm>
          <a:custGeom>
            <a:avLst/>
            <a:gdLst/>
            <a:ahLst/>
            <a:cxnLst/>
            <a:rect r="r" b="b" t="t" l="l"/>
            <a:pathLst>
              <a:path h="5689043" w="6192156">
                <a:moveTo>
                  <a:pt x="0" y="0"/>
                </a:moveTo>
                <a:lnTo>
                  <a:pt x="6192156" y="0"/>
                </a:lnTo>
                <a:lnTo>
                  <a:pt x="6192156" y="5689043"/>
                </a:lnTo>
                <a:lnTo>
                  <a:pt x="0" y="5689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10668000" y="1859706"/>
            <a:ext cx="7295036" cy="6269172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298" y="0"/>
              <a:ext cx="800204" cy="698500"/>
            </a:xfrm>
            <a:custGeom>
              <a:avLst/>
              <a:gdLst/>
              <a:ahLst/>
              <a:cxnLst/>
              <a:rect r="r" b="b" t="t" l="l"/>
              <a:pathLst>
                <a:path h="698500" w="800204">
                  <a:moveTo>
                    <a:pt x="794761" y="369431"/>
                  </a:moveTo>
                  <a:lnTo>
                    <a:pt x="615043" y="678319"/>
                  </a:lnTo>
                  <a:cubicBezTo>
                    <a:pt x="607774" y="690814"/>
                    <a:pt x="594409" y="698500"/>
                    <a:pt x="579954" y="698500"/>
                  </a:cubicBezTo>
                  <a:lnTo>
                    <a:pt x="220250" y="698500"/>
                  </a:lnTo>
                  <a:cubicBezTo>
                    <a:pt x="205795" y="698500"/>
                    <a:pt x="192430" y="690814"/>
                    <a:pt x="185161" y="678319"/>
                  </a:cubicBezTo>
                  <a:lnTo>
                    <a:pt x="5443" y="369431"/>
                  </a:lnTo>
                  <a:cubicBezTo>
                    <a:pt x="-1815" y="356956"/>
                    <a:pt x="-1815" y="341544"/>
                    <a:pt x="5443" y="329069"/>
                  </a:cubicBezTo>
                  <a:lnTo>
                    <a:pt x="185161" y="20181"/>
                  </a:lnTo>
                  <a:cubicBezTo>
                    <a:pt x="192430" y="7686"/>
                    <a:pt x="205795" y="0"/>
                    <a:pt x="220250" y="0"/>
                  </a:cubicBezTo>
                  <a:lnTo>
                    <a:pt x="579954" y="0"/>
                  </a:lnTo>
                  <a:cubicBezTo>
                    <a:pt x="594409" y="0"/>
                    <a:pt x="607774" y="7686"/>
                    <a:pt x="615043" y="20181"/>
                  </a:cubicBezTo>
                  <a:lnTo>
                    <a:pt x="794761" y="329069"/>
                  </a:lnTo>
                  <a:cubicBezTo>
                    <a:pt x="802019" y="341544"/>
                    <a:pt x="802019" y="356956"/>
                    <a:pt x="794761" y="369431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97595" y="2228889"/>
            <a:ext cx="6435847" cy="5530806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7139" y="0"/>
              <a:ext cx="798523" cy="698500"/>
            </a:xfrm>
            <a:custGeom>
              <a:avLst/>
              <a:gdLst/>
              <a:ahLst/>
              <a:cxnLst/>
              <a:rect r="r" b="b" t="t" l="l"/>
              <a:pathLst>
                <a:path h="698500" w="798523">
                  <a:moveTo>
                    <a:pt x="792352" y="372125"/>
                  </a:moveTo>
                  <a:lnTo>
                    <a:pt x="615770" y="675625"/>
                  </a:lnTo>
                  <a:cubicBezTo>
                    <a:pt x="607530" y="689788"/>
                    <a:pt x="592381" y="698500"/>
                    <a:pt x="575996" y="698500"/>
                  </a:cubicBezTo>
                  <a:lnTo>
                    <a:pt x="222526" y="698500"/>
                  </a:lnTo>
                  <a:cubicBezTo>
                    <a:pt x="206141" y="698500"/>
                    <a:pt x="190992" y="689788"/>
                    <a:pt x="182752" y="675625"/>
                  </a:cubicBezTo>
                  <a:lnTo>
                    <a:pt x="6170" y="372125"/>
                  </a:lnTo>
                  <a:cubicBezTo>
                    <a:pt x="-2057" y="357984"/>
                    <a:pt x="-2057" y="340516"/>
                    <a:pt x="6170" y="326375"/>
                  </a:cubicBezTo>
                  <a:lnTo>
                    <a:pt x="182752" y="22875"/>
                  </a:lnTo>
                  <a:cubicBezTo>
                    <a:pt x="190992" y="8712"/>
                    <a:pt x="206141" y="0"/>
                    <a:pt x="222526" y="0"/>
                  </a:cubicBezTo>
                  <a:lnTo>
                    <a:pt x="575996" y="0"/>
                  </a:lnTo>
                  <a:cubicBezTo>
                    <a:pt x="592381" y="0"/>
                    <a:pt x="607530" y="8712"/>
                    <a:pt x="615770" y="22875"/>
                  </a:cubicBezTo>
                  <a:lnTo>
                    <a:pt x="792352" y="326375"/>
                  </a:lnTo>
                  <a:cubicBezTo>
                    <a:pt x="800579" y="340516"/>
                    <a:pt x="800579" y="357984"/>
                    <a:pt x="792352" y="372125"/>
                  </a:cubicBezTo>
                  <a:close/>
                </a:path>
              </a:pathLst>
            </a:custGeom>
            <a:blipFill>
              <a:blip r:embed="rId7"/>
              <a:stretch>
                <a:fillRect l="-15523" t="0" r="-15523" b="0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212168" y="9981318"/>
            <a:ext cx="5438931" cy="1121747"/>
            <a:chOff x="0" y="0"/>
            <a:chExt cx="1700767" cy="3507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3266" y="0"/>
              <a:ext cx="1674236" cy="350773"/>
            </a:xfrm>
            <a:custGeom>
              <a:avLst/>
              <a:gdLst/>
              <a:ahLst/>
              <a:cxnLst/>
              <a:rect r="r" b="b" t="t" l="l"/>
              <a:pathLst>
                <a:path h="350773" w="1674236">
                  <a:moveTo>
                    <a:pt x="1452986" y="0"/>
                  </a:moveTo>
                  <a:lnTo>
                    <a:pt x="18049" y="0"/>
                  </a:lnTo>
                  <a:cubicBezTo>
                    <a:pt x="11596" y="0"/>
                    <a:pt x="5634" y="3445"/>
                    <a:pt x="2411" y="9036"/>
                  </a:cubicBezTo>
                  <a:cubicBezTo>
                    <a:pt x="-811" y="14627"/>
                    <a:pt x="-804" y="21513"/>
                    <a:pt x="2431" y="27097"/>
                  </a:cubicBezTo>
                  <a:lnTo>
                    <a:pt x="174237" y="323676"/>
                  </a:lnTo>
                  <a:cubicBezTo>
                    <a:pt x="183952" y="340447"/>
                    <a:pt x="201867" y="350773"/>
                    <a:pt x="221249" y="350773"/>
                  </a:cubicBezTo>
                  <a:lnTo>
                    <a:pt x="1656186" y="350773"/>
                  </a:lnTo>
                  <a:cubicBezTo>
                    <a:pt x="1662639" y="350773"/>
                    <a:pt x="1668601" y="347328"/>
                    <a:pt x="1671824" y="341737"/>
                  </a:cubicBezTo>
                  <a:cubicBezTo>
                    <a:pt x="1675046" y="336146"/>
                    <a:pt x="1675039" y="329260"/>
                    <a:pt x="1671804" y="323676"/>
                  </a:cubicBezTo>
                  <a:lnTo>
                    <a:pt x="1499998" y="27097"/>
                  </a:lnTo>
                  <a:cubicBezTo>
                    <a:pt x="1490283" y="10326"/>
                    <a:pt x="1472368" y="0"/>
                    <a:pt x="1452986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85725"/>
              <a:ext cx="1497567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2962371" y="74188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-2064034" y="9726127"/>
            <a:ext cx="5438931" cy="1121747"/>
            <a:chOff x="0" y="0"/>
            <a:chExt cx="1700767" cy="3507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3266" y="0"/>
              <a:ext cx="1674236" cy="350773"/>
            </a:xfrm>
            <a:custGeom>
              <a:avLst/>
              <a:gdLst/>
              <a:ahLst/>
              <a:cxnLst/>
              <a:rect r="r" b="b" t="t" l="l"/>
              <a:pathLst>
                <a:path h="350773" w="1674236">
                  <a:moveTo>
                    <a:pt x="1452986" y="0"/>
                  </a:moveTo>
                  <a:lnTo>
                    <a:pt x="18049" y="0"/>
                  </a:lnTo>
                  <a:cubicBezTo>
                    <a:pt x="11596" y="0"/>
                    <a:pt x="5634" y="3445"/>
                    <a:pt x="2411" y="9036"/>
                  </a:cubicBezTo>
                  <a:cubicBezTo>
                    <a:pt x="-811" y="14627"/>
                    <a:pt x="-804" y="21513"/>
                    <a:pt x="2431" y="27097"/>
                  </a:cubicBezTo>
                  <a:lnTo>
                    <a:pt x="174237" y="323676"/>
                  </a:lnTo>
                  <a:cubicBezTo>
                    <a:pt x="183952" y="340447"/>
                    <a:pt x="201867" y="350773"/>
                    <a:pt x="221249" y="350773"/>
                  </a:cubicBezTo>
                  <a:lnTo>
                    <a:pt x="1656186" y="350773"/>
                  </a:lnTo>
                  <a:cubicBezTo>
                    <a:pt x="1662639" y="350773"/>
                    <a:pt x="1668601" y="347328"/>
                    <a:pt x="1671824" y="341737"/>
                  </a:cubicBezTo>
                  <a:cubicBezTo>
                    <a:pt x="1675046" y="336146"/>
                    <a:pt x="1675039" y="329260"/>
                    <a:pt x="1671804" y="323676"/>
                  </a:cubicBezTo>
                  <a:lnTo>
                    <a:pt x="1499998" y="27097"/>
                  </a:lnTo>
                  <a:cubicBezTo>
                    <a:pt x="1490283" y="10326"/>
                    <a:pt x="1472368" y="0"/>
                    <a:pt x="145298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85725"/>
              <a:ext cx="1497567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3400424" y="0"/>
            <a:ext cx="6108877" cy="1384761"/>
            <a:chOff x="0" y="0"/>
            <a:chExt cx="1541443" cy="3494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7225" y="0"/>
              <a:ext cx="1506993" cy="349414"/>
            </a:xfrm>
            <a:custGeom>
              <a:avLst/>
              <a:gdLst/>
              <a:ahLst/>
              <a:cxnLst/>
              <a:rect r="r" b="b" t="t" l="l"/>
              <a:pathLst>
                <a:path h="349414" w="1506993">
                  <a:moveTo>
                    <a:pt x="226529" y="0"/>
                  </a:moveTo>
                  <a:lnTo>
                    <a:pt x="1483664" y="0"/>
                  </a:lnTo>
                  <a:cubicBezTo>
                    <a:pt x="1492011" y="0"/>
                    <a:pt x="1499723" y="4460"/>
                    <a:pt x="1503886" y="11696"/>
                  </a:cubicBezTo>
                  <a:cubicBezTo>
                    <a:pt x="1508048" y="18932"/>
                    <a:pt x="1508027" y="27841"/>
                    <a:pt x="1503831" y="35057"/>
                  </a:cubicBezTo>
                  <a:lnTo>
                    <a:pt x="1341405" y="314357"/>
                  </a:lnTo>
                  <a:cubicBezTo>
                    <a:pt x="1328783" y="336061"/>
                    <a:pt x="1305571" y="349414"/>
                    <a:pt x="1280464" y="349414"/>
                  </a:cubicBezTo>
                  <a:lnTo>
                    <a:pt x="23329" y="349414"/>
                  </a:lnTo>
                  <a:cubicBezTo>
                    <a:pt x="14982" y="349414"/>
                    <a:pt x="7270" y="344954"/>
                    <a:pt x="3107" y="337718"/>
                  </a:cubicBezTo>
                  <a:cubicBezTo>
                    <a:pt x="-1055" y="330482"/>
                    <a:pt x="-1034" y="321573"/>
                    <a:pt x="3162" y="314357"/>
                  </a:cubicBezTo>
                  <a:lnTo>
                    <a:pt x="165588" y="35057"/>
                  </a:lnTo>
                  <a:cubicBezTo>
                    <a:pt x="178210" y="13353"/>
                    <a:pt x="201422" y="0"/>
                    <a:pt x="226529" y="0"/>
                  </a:cubicBezTo>
                  <a:close/>
                </a:path>
              </a:pathLst>
            </a:custGeom>
            <a:solidFill>
              <a:srgbClr val="ECEDEE">
                <a:alpha val="5098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-85725"/>
              <a:ext cx="1338243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345985" y="-1512929"/>
            <a:ext cx="4348683" cy="1969319"/>
            <a:chOff x="0" y="0"/>
            <a:chExt cx="1527063" cy="6915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4370" y="0"/>
              <a:ext cx="1487192" cy="691537"/>
            </a:xfrm>
            <a:custGeom>
              <a:avLst/>
              <a:gdLst/>
              <a:ahLst/>
              <a:cxnLst/>
              <a:rect r="r" b="b" t="t" l="l"/>
              <a:pathLst>
                <a:path h="691537" w="1487192">
                  <a:moveTo>
                    <a:pt x="32599" y="0"/>
                  </a:moveTo>
                  <a:lnTo>
                    <a:pt x="1242524" y="0"/>
                  </a:lnTo>
                  <a:cubicBezTo>
                    <a:pt x="1277818" y="0"/>
                    <a:pt x="1310475" y="18687"/>
                    <a:pt x="1328357" y="49116"/>
                  </a:cubicBezTo>
                  <a:lnTo>
                    <a:pt x="1473829" y="296653"/>
                  </a:lnTo>
                  <a:cubicBezTo>
                    <a:pt x="1491647" y="326972"/>
                    <a:pt x="1491647" y="364564"/>
                    <a:pt x="1473829" y="394884"/>
                  </a:cubicBezTo>
                  <a:lnTo>
                    <a:pt x="1328357" y="642421"/>
                  </a:lnTo>
                  <a:cubicBezTo>
                    <a:pt x="1310475" y="672850"/>
                    <a:pt x="1277818" y="691537"/>
                    <a:pt x="1242524" y="691537"/>
                  </a:cubicBezTo>
                  <a:lnTo>
                    <a:pt x="32599" y="691537"/>
                  </a:lnTo>
                  <a:cubicBezTo>
                    <a:pt x="20908" y="691537"/>
                    <a:pt x="10112" y="685276"/>
                    <a:pt x="4305" y="675128"/>
                  </a:cubicBezTo>
                  <a:cubicBezTo>
                    <a:pt x="-1502" y="664981"/>
                    <a:pt x="-1429" y="652501"/>
                    <a:pt x="4494" y="642421"/>
                  </a:cubicBezTo>
                  <a:lnTo>
                    <a:pt x="149966" y="394884"/>
                  </a:lnTo>
                  <a:cubicBezTo>
                    <a:pt x="167784" y="364564"/>
                    <a:pt x="167784" y="326972"/>
                    <a:pt x="149966" y="296653"/>
                  </a:cubicBezTo>
                  <a:lnTo>
                    <a:pt x="4494" y="49116"/>
                  </a:lnTo>
                  <a:cubicBezTo>
                    <a:pt x="-1429" y="39036"/>
                    <a:pt x="-1502" y="26556"/>
                    <a:pt x="4305" y="16408"/>
                  </a:cubicBezTo>
                  <a:cubicBezTo>
                    <a:pt x="10112" y="6261"/>
                    <a:pt x="20908" y="0"/>
                    <a:pt x="32599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77800" y="-85725"/>
              <a:ext cx="1273063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633714" y="1859706"/>
            <a:ext cx="776385" cy="768621"/>
          </a:xfrm>
          <a:custGeom>
            <a:avLst/>
            <a:gdLst/>
            <a:ahLst/>
            <a:cxnLst/>
            <a:rect r="r" b="b" t="t" l="l"/>
            <a:pathLst>
              <a:path h="768621" w="776385">
                <a:moveTo>
                  <a:pt x="0" y="0"/>
                </a:moveTo>
                <a:lnTo>
                  <a:pt x="776385" y="0"/>
                </a:lnTo>
                <a:lnTo>
                  <a:pt x="776385" y="768621"/>
                </a:lnTo>
                <a:lnTo>
                  <a:pt x="0" y="7686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2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3598800">
            <a:off x="12798444" y="-119032"/>
            <a:ext cx="910649" cy="910649"/>
          </a:xfrm>
          <a:custGeom>
            <a:avLst/>
            <a:gdLst/>
            <a:ahLst/>
            <a:cxnLst/>
            <a:rect r="r" b="b" t="t" l="l"/>
            <a:pathLst>
              <a:path h="910649" w="910649">
                <a:moveTo>
                  <a:pt x="0" y="0"/>
                </a:moveTo>
                <a:lnTo>
                  <a:pt x="910649" y="0"/>
                </a:lnTo>
                <a:lnTo>
                  <a:pt x="910649" y="910649"/>
                </a:lnTo>
                <a:lnTo>
                  <a:pt x="0" y="9106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604869" y="-528269"/>
            <a:ext cx="4028845" cy="2549296"/>
          </a:xfrm>
          <a:custGeom>
            <a:avLst/>
            <a:gdLst/>
            <a:ahLst/>
            <a:cxnLst/>
            <a:rect r="r" b="b" t="t" l="l"/>
            <a:pathLst>
              <a:path h="2549296" w="4028845">
                <a:moveTo>
                  <a:pt x="0" y="0"/>
                </a:moveTo>
                <a:lnTo>
                  <a:pt x="4028845" y="0"/>
                </a:lnTo>
                <a:lnTo>
                  <a:pt x="4028845" y="2549296"/>
                </a:lnTo>
                <a:lnTo>
                  <a:pt x="0" y="2549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8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80872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51784" t="-261457" r="-92831" b="-825712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46283" y="1246398"/>
            <a:ext cx="12293673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spc="-384">
                <a:solidFill>
                  <a:srgbClr val="1C1C1C"/>
                </a:solidFill>
                <a:latin typeface="Helvetica Now"/>
                <a:ea typeface="Helvetica Now"/>
                <a:cs typeface="Helvetica Now"/>
                <a:sym typeface="Helvetica Now"/>
              </a:rPr>
              <a:t>ARSITEKTUR MOBILENETV2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46283" y="2336532"/>
            <a:ext cx="9051791" cy="355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sz="254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Mobi</a:t>
            </a:r>
            <a:r>
              <a:rPr lang="en-US" sz="254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leNetV2</a:t>
            </a:r>
          </a:p>
          <a:p>
            <a:pPr algn="l">
              <a:lnSpc>
                <a:spcPts val="4066"/>
              </a:lnSpc>
            </a:pPr>
            <a:r>
              <a:rPr lang="en-US" sz="254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MobileNetV2 digunakan sebagai arsitektur CNN karena:</a:t>
            </a:r>
          </a:p>
          <a:p>
            <a:pPr algn="l" marL="548777" indent="-274388" lvl="1">
              <a:lnSpc>
                <a:spcPts val="4066"/>
              </a:lnSpc>
              <a:buFont typeface="Arial"/>
              <a:buChar char="•"/>
            </a:pPr>
            <a:r>
              <a:rPr lang="en-US" sz="254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Relatif ringan</a:t>
            </a:r>
          </a:p>
          <a:p>
            <a:pPr algn="l" marL="548777" indent="-274388" lvl="1">
              <a:lnSpc>
                <a:spcPts val="4066"/>
              </a:lnSpc>
              <a:buFont typeface="Arial"/>
              <a:buChar char="•"/>
            </a:pPr>
            <a:r>
              <a:rPr lang="en-US" sz="254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Cocok untuk eksperimen dengan jumlah data yang terbatas</a:t>
            </a:r>
          </a:p>
          <a:p>
            <a:pPr algn="l" marL="548777" indent="-274388" lvl="1">
              <a:lnSpc>
                <a:spcPts val="4066"/>
              </a:lnSpc>
              <a:buFont typeface="Arial"/>
              <a:buChar char="•"/>
            </a:pPr>
            <a:r>
              <a:rPr lang="en-US" sz="2541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Digunakan sebagai model dasar klasifikasi</a:t>
            </a:r>
          </a:p>
          <a:p>
            <a:pPr algn="l">
              <a:lnSpc>
                <a:spcPts val="4066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963572" y="5960892"/>
            <a:ext cx="10993988" cy="221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223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Bagi</a:t>
            </a:r>
            <a:r>
              <a:rPr lang="en-US" sz="2223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an akhir model</a:t>
            </a:r>
          </a:p>
          <a:p>
            <a:pPr algn="l">
              <a:lnSpc>
                <a:spcPts val="3557"/>
              </a:lnSpc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MobileNetV2 → Global Average Pooling → Dropout → Dense → Softmax</a:t>
            </a:r>
          </a:p>
          <a:p>
            <a:pPr algn="l" marL="479980" indent="-239990" lvl="1">
              <a:lnSpc>
                <a:spcPts val="3557"/>
              </a:lnSpc>
              <a:buFont typeface="Arial"/>
              <a:buChar char="•"/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D</a:t>
            </a: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ense memiliki 4 neuron</a:t>
            </a:r>
          </a:p>
          <a:p>
            <a:pPr algn="l" marL="479980" indent="-239990" lvl="1">
              <a:lnSpc>
                <a:spcPts val="3557"/>
              </a:lnSpc>
              <a:buFont typeface="Arial"/>
              <a:buChar char="•"/>
            </a:pPr>
            <a:r>
              <a:rPr lang="en-US" sz="222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Softmax menghasilkan prediksi untuk 4 kelas sampah</a:t>
            </a:r>
          </a:p>
          <a:p>
            <a:pPr algn="l">
              <a:lnSpc>
                <a:spcPts val="355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05211" y="-1497756"/>
            <a:ext cx="4714879" cy="4714879"/>
          </a:xfrm>
          <a:custGeom>
            <a:avLst/>
            <a:gdLst/>
            <a:ahLst/>
            <a:cxnLst/>
            <a:rect r="r" b="b" t="t" l="l"/>
            <a:pathLst>
              <a:path h="4714879" w="4714879">
                <a:moveTo>
                  <a:pt x="0" y="0"/>
                </a:moveTo>
                <a:lnTo>
                  <a:pt x="4714879" y="0"/>
                </a:lnTo>
                <a:lnTo>
                  <a:pt x="4714879" y="4714879"/>
                </a:lnTo>
                <a:lnTo>
                  <a:pt x="0" y="47148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10800000">
            <a:off x="10784163" y="-349387"/>
            <a:ext cx="6416812" cy="8792462"/>
            <a:chOff x="0" y="0"/>
            <a:chExt cx="504689" cy="691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355" y="0"/>
              <a:ext cx="486113" cy="691537"/>
            </a:xfrm>
            <a:custGeom>
              <a:avLst/>
              <a:gdLst/>
              <a:ahLst/>
              <a:cxnLst/>
              <a:rect r="r" b="b" t="t" l="l"/>
              <a:pathLst>
                <a:path h="691537" w="486113">
                  <a:moveTo>
                    <a:pt x="15188" y="0"/>
                  </a:moveTo>
                  <a:lnTo>
                    <a:pt x="263591" y="0"/>
                  </a:lnTo>
                  <a:cubicBezTo>
                    <a:pt x="280036" y="0"/>
                    <a:pt x="295251" y="8707"/>
                    <a:pt x="303583" y="22884"/>
                  </a:cubicBezTo>
                  <a:lnTo>
                    <a:pt x="479886" y="322884"/>
                  </a:lnTo>
                  <a:cubicBezTo>
                    <a:pt x="488188" y="337011"/>
                    <a:pt x="488188" y="354526"/>
                    <a:pt x="479886" y="368652"/>
                  </a:cubicBezTo>
                  <a:lnTo>
                    <a:pt x="303583" y="668653"/>
                  </a:lnTo>
                  <a:cubicBezTo>
                    <a:pt x="295251" y="682830"/>
                    <a:pt x="280036" y="691537"/>
                    <a:pt x="263591" y="691537"/>
                  </a:cubicBezTo>
                  <a:lnTo>
                    <a:pt x="15188" y="691537"/>
                  </a:lnTo>
                  <a:cubicBezTo>
                    <a:pt x="9741" y="691537"/>
                    <a:pt x="4711" y="688620"/>
                    <a:pt x="2005" y="683892"/>
                  </a:cubicBezTo>
                  <a:cubicBezTo>
                    <a:pt x="-700" y="679164"/>
                    <a:pt x="-667" y="673349"/>
                    <a:pt x="2093" y="668653"/>
                  </a:cubicBezTo>
                  <a:lnTo>
                    <a:pt x="178397" y="368652"/>
                  </a:lnTo>
                  <a:cubicBezTo>
                    <a:pt x="186698" y="354526"/>
                    <a:pt x="186698" y="337011"/>
                    <a:pt x="178397" y="322884"/>
                  </a:cubicBezTo>
                  <a:lnTo>
                    <a:pt x="2093" y="22884"/>
                  </a:lnTo>
                  <a:cubicBezTo>
                    <a:pt x="-667" y="18188"/>
                    <a:pt x="-700" y="12373"/>
                    <a:pt x="2005" y="7645"/>
                  </a:cubicBezTo>
                  <a:cubicBezTo>
                    <a:pt x="4711" y="2917"/>
                    <a:pt x="9741" y="0"/>
                    <a:pt x="15188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-85725"/>
              <a:ext cx="250689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935215" y="1363996"/>
            <a:ext cx="8782712" cy="7547643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231" y="0"/>
              <a:ext cx="802338" cy="698500"/>
            </a:xfrm>
            <a:custGeom>
              <a:avLst/>
              <a:gdLst/>
              <a:ahLst/>
              <a:cxnLst/>
              <a:rect r="r" b="b" t="t" l="l"/>
              <a:pathLst>
                <a:path h="698500" w="802338">
                  <a:moveTo>
                    <a:pt x="797816" y="366012"/>
                  </a:moveTo>
                  <a:lnTo>
                    <a:pt x="614122" y="681738"/>
                  </a:lnTo>
                  <a:cubicBezTo>
                    <a:pt x="608084" y="692116"/>
                    <a:pt x="596983" y="698500"/>
                    <a:pt x="584976" y="698500"/>
                  </a:cubicBezTo>
                  <a:lnTo>
                    <a:pt x="217362" y="698500"/>
                  </a:lnTo>
                  <a:cubicBezTo>
                    <a:pt x="205355" y="698500"/>
                    <a:pt x="194254" y="692116"/>
                    <a:pt x="188216" y="681738"/>
                  </a:cubicBezTo>
                  <a:lnTo>
                    <a:pt x="4522" y="366012"/>
                  </a:lnTo>
                  <a:cubicBezTo>
                    <a:pt x="-1507" y="355651"/>
                    <a:pt x="-1507" y="342849"/>
                    <a:pt x="4522" y="332488"/>
                  </a:cubicBezTo>
                  <a:lnTo>
                    <a:pt x="188216" y="16762"/>
                  </a:lnTo>
                  <a:cubicBezTo>
                    <a:pt x="194254" y="6384"/>
                    <a:pt x="205355" y="0"/>
                    <a:pt x="217362" y="0"/>
                  </a:cubicBezTo>
                  <a:lnTo>
                    <a:pt x="584976" y="0"/>
                  </a:lnTo>
                  <a:cubicBezTo>
                    <a:pt x="596983" y="0"/>
                    <a:pt x="608084" y="6384"/>
                    <a:pt x="614122" y="16762"/>
                  </a:cubicBezTo>
                  <a:lnTo>
                    <a:pt x="797816" y="332488"/>
                  </a:lnTo>
                  <a:cubicBezTo>
                    <a:pt x="803845" y="342849"/>
                    <a:pt x="803845" y="355651"/>
                    <a:pt x="797816" y="366012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74839" y="5288378"/>
            <a:ext cx="4478694" cy="4114800"/>
          </a:xfrm>
          <a:custGeom>
            <a:avLst/>
            <a:gdLst/>
            <a:ahLst/>
            <a:cxnLst/>
            <a:rect r="r" b="b" t="t" l="l"/>
            <a:pathLst>
              <a:path h="4114800" w="4478694">
                <a:moveTo>
                  <a:pt x="0" y="0"/>
                </a:moveTo>
                <a:lnTo>
                  <a:pt x="4478694" y="0"/>
                </a:lnTo>
                <a:lnTo>
                  <a:pt x="4478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650587" y="5288378"/>
            <a:ext cx="4478694" cy="4114800"/>
          </a:xfrm>
          <a:custGeom>
            <a:avLst/>
            <a:gdLst/>
            <a:ahLst/>
            <a:cxnLst/>
            <a:rect r="r" b="b" t="t" l="l"/>
            <a:pathLst>
              <a:path h="4114800" w="4478694">
                <a:moveTo>
                  <a:pt x="0" y="0"/>
                </a:moveTo>
                <a:lnTo>
                  <a:pt x="4478694" y="0"/>
                </a:lnTo>
                <a:lnTo>
                  <a:pt x="4478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12396553" y="1760459"/>
            <a:ext cx="7860036" cy="6754718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845" y="0"/>
              <a:ext cx="801110" cy="698500"/>
            </a:xfrm>
            <a:custGeom>
              <a:avLst/>
              <a:gdLst/>
              <a:ahLst/>
              <a:cxnLst/>
              <a:rect r="r" b="b" t="t" l="l"/>
              <a:pathLst>
                <a:path h="698500" w="801110">
                  <a:moveTo>
                    <a:pt x="796058" y="367980"/>
                  </a:moveTo>
                  <a:lnTo>
                    <a:pt x="614652" y="679770"/>
                  </a:lnTo>
                  <a:cubicBezTo>
                    <a:pt x="607906" y="691366"/>
                    <a:pt x="595502" y="698500"/>
                    <a:pt x="582086" y="698500"/>
                  </a:cubicBezTo>
                  <a:lnTo>
                    <a:pt x="219024" y="698500"/>
                  </a:lnTo>
                  <a:cubicBezTo>
                    <a:pt x="205608" y="698500"/>
                    <a:pt x="193204" y="691366"/>
                    <a:pt x="186458" y="679770"/>
                  </a:cubicBezTo>
                  <a:lnTo>
                    <a:pt x="5052" y="367980"/>
                  </a:lnTo>
                  <a:cubicBezTo>
                    <a:pt x="-1684" y="356402"/>
                    <a:pt x="-1684" y="342098"/>
                    <a:pt x="5052" y="330520"/>
                  </a:cubicBezTo>
                  <a:lnTo>
                    <a:pt x="186458" y="18730"/>
                  </a:lnTo>
                  <a:cubicBezTo>
                    <a:pt x="193204" y="7134"/>
                    <a:pt x="205608" y="0"/>
                    <a:pt x="219024" y="0"/>
                  </a:cubicBezTo>
                  <a:lnTo>
                    <a:pt x="582086" y="0"/>
                  </a:lnTo>
                  <a:cubicBezTo>
                    <a:pt x="595502" y="0"/>
                    <a:pt x="607906" y="7134"/>
                    <a:pt x="614652" y="18730"/>
                  </a:cubicBezTo>
                  <a:lnTo>
                    <a:pt x="796058" y="330520"/>
                  </a:lnTo>
                  <a:cubicBezTo>
                    <a:pt x="802794" y="342098"/>
                    <a:pt x="802794" y="356402"/>
                    <a:pt x="796058" y="367980"/>
                  </a:cubicBezTo>
                  <a:close/>
                </a:path>
              </a:pathLst>
            </a:custGeom>
            <a:blipFill>
              <a:blip r:embed="rId7"/>
              <a:stretch>
                <a:fillRect l="-15312" t="0" r="-15312" b="0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-595688" y="-444637"/>
            <a:ext cx="6690931" cy="889275"/>
            <a:chOff x="0" y="0"/>
            <a:chExt cx="2629005" cy="3494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0812" y="0"/>
              <a:ext cx="2607381" cy="349414"/>
            </a:xfrm>
            <a:custGeom>
              <a:avLst/>
              <a:gdLst/>
              <a:ahLst/>
              <a:cxnLst/>
              <a:rect r="r" b="b" t="t" l="l"/>
              <a:pathLst>
                <a:path h="349414" w="2607381">
                  <a:moveTo>
                    <a:pt x="217844" y="0"/>
                  </a:moveTo>
                  <a:lnTo>
                    <a:pt x="2592737" y="0"/>
                  </a:lnTo>
                  <a:cubicBezTo>
                    <a:pt x="2597977" y="0"/>
                    <a:pt x="2602818" y="2800"/>
                    <a:pt x="2605430" y="7342"/>
                  </a:cubicBezTo>
                  <a:cubicBezTo>
                    <a:pt x="2608043" y="11884"/>
                    <a:pt x="2608030" y="17476"/>
                    <a:pt x="2605396" y="22005"/>
                  </a:cubicBezTo>
                  <a:lnTo>
                    <a:pt x="2427790" y="327409"/>
                  </a:lnTo>
                  <a:cubicBezTo>
                    <a:pt x="2419867" y="341033"/>
                    <a:pt x="2405297" y="349414"/>
                    <a:pt x="2389537" y="349414"/>
                  </a:cubicBezTo>
                  <a:lnTo>
                    <a:pt x="14644" y="349414"/>
                  </a:lnTo>
                  <a:cubicBezTo>
                    <a:pt x="9404" y="349414"/>
                    <a:pt x="4563" y="346615"/>
                    <a:pt x="1950" y="342073"/>
                  </a:cubicBezTo>
                  <a:cubicBezTo>
                    <a:pt x="-662" y="337531"/>
                    <a:pt x="-649" y="331939"/>
                    <a:pt x="1985" y="327409"/>
                  </a:cubicBezTo>
                  <a:lnTo>
                    <a:pt x="179591" y="22005"/>
                  </a:lnTo>
                  <a:cubicBezTo>
                    <a:pt x="187514" y="8382"/>
                    <a:pt x="202084" y="0"/>
                    <a:pt x="217844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85725"/>
              <a:ext cx="2425805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027939" y="-198608"/>
            <a:ext cx="4113279" cy="1058291"/>
            <a:chOff x="0" y="0"/>
            <a:chExt cx="1358075" cy="3494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7588" y="0"/>
              <a:ext cx="1322900" cy="349414"/>
            </a:xfrm>
            <a:custGeom>
              <a:avLst/>
              <a:gdLst/>
              <a:ahLst/>
              <a:cxnLst/>
              <a:rect r="r" b="b" t="t" l="l"/>
              <a:pathLst>
                <a:path h="349414" w="1322900">
                  <a:moveTo>
                    <a:pt x="227020" y="0"/>
                  </a:moveTo>
                  <a:lnTo>
                    <a:pt x="1299079" y="0"/>
                  </a:lnTo>
                  <a:cubicBezTo>
                    <a:pt x="1307603" y="0"/>
                    <a:pt x="1315476" y="4554"/>
                    <a:pt x="1319727" y="11943"/>
                  </a:cubicBezTo>
                  <a:cubicBezTo>
                    <a:pt x="1323977" y="19331"/>
                    <a:pt x="1323955" y="28427"/>
                    <a:pt x="1319670" y="35795"/>
                  </a:cubicBezTo>
                  <a:lnTo>
                    <a:pt x="1158103" y="313619"/>
                  </a:lnTo>
                  <a:cubicBezTo>
                    <a:pt x="1145216" y="335780"/>
                    <a:pt x="1121515" y="349414"/>
                    <a:pt x="1095879" y="349414"/>
                  </a:cubicBezTo>
                  <a:lnTo>
                    <a:pt x="23820" y="349414"/>
                  </a:lnTo>
                  <a:cubicBezTo>
                    <a:pt x="15296" y="349414"/>
                    <a:pt x="7422" y="344860"/>
                    <a:pt x="3172" y="337472"/>
                  </a:cubicBezTo>
                  <a:cubicBezTo>
                    <a:pt x="-1078" y="330084"/>
                    <a:pt x="-1056" y="320987"/>
                    <a:pt x="3228" y="313619"/>
                  </a:cubicBezTo>
                  <a:lnTo>
                    <a:pt x="164796" y="35795"/>
                  </a:lnTo>
                  <a:cubicBezTo>
                    <a:pt x="177683" y="13634"/>
                    <a:pt x="201384" y="0"/>
                    <a:pt x="227020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85725"/>
              <a:ext cx="1154875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262530" y="8772689"/>
            <a:ext cx="2779171" cy="1890178"/>
          </a:xfrm>
          <a:custGeom>
            <a:avLst/>
            <a:gdLst/>
            <a:ahLst/>
            <a:cxnLst/>
            <a:rect r="r" b="b" t="t" l="l"/>
            <a:pathLst>
              <a:path h="1890178" w="2779171">
                <a:moveTo>
                  <a:pt x="0" y="0"/>
                </a:moveTo>
                <a:lnTo>
                  <a:pt x="2779170" y="0"/>
                </a:lnTo>
                <a:lnTo>
                  <a:pt x="2779170" y="1890177"/>
                </a:lnTo>
                <a:lnTo>
                  <a:pt x="0" y="18901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3691" t="0" r="0" b="-11963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51784" t="-261457" r="-92831" b="-825712"/>
            </a:stretch>
          </a:blipFill>
        </p:spPr>
      </p:sp>
      <p:graphicFrame>
        <p:nvGraphicFramePr>
          <p:cNvPr name="Object 22" id="22"/>
          <p:cNvGraphicFramePr/>
          <p:nvPr/>
        </p:nvGraphicFramePr>
        <p:xfrm>
          <a:off x="1127055" y="2889714"/>
          <a:ext cx="3771900" cy="3143250"/>
        </p:xfrm>
        <a:graphic>
          <a:graphicData uri="http://schemas.openxmlformats.org/presentationml/2006/ole">
            <p:oleObj imgW="4521200" imgH="38862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1379280" y="2134870"/>
            <a:ext cx="7221082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4 Skenario</a:t>
            </a: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 Eksperimen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7055" y="1152525"/>
            <a:ext cx="9322151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408">
                <a:solidFill>
                  <a:srgbClr val="1C1C1C"/>
                </a:solidFill>
                <a:latin typeface="Helvetica Now"/>
                <a:ea typeface="Helvetica Now"/>
                <a:cs typeface="Helvetica Now"/>
                <a:sym typeface="Helvetica Now"/>
              </a:rPr>
              <a:t>SKENARIO PENGUJIAN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16640" y="6780674"/>
            <a:ext cx="9569914" cy="337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Detail:</a:t>
            </a:r>
          </a:p>
          <a:p>
            <a:pPr algn="l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Skenario 1: tanpa</a:t>
            </a: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 augmentation</a:t>
            </a:r>
          </a:p>
          <a:p>
            <a:pPr algn="l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Skenario</a:t>
            </a: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 2: augmentation pada data training</a:t>
            </a:r>
          </a:p>
          <a:p>
            <a:pPr algn="l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Skenario 3: augmentation + Dropout 0,4</a:t>
            </a:r>
          </a:p>
          <a:p>
            <a:pPr algn="l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Skenario 4: membuka sebagian layer akhir + learning rate 0,0001</a:t>
            </a:r>
          </a:p>
          <a:p>
            <a:pPr algn="l">
              <a:lnSpc>
                <a:spcPts val="383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05211" y="-1497756"/>
            <a:ext cx="4714879" cy="4714879"/>
          </a:xfrm>
          <a:custGeom>
            <a:avLst/>
            <a:gdLst/>
            <a:ahLst/>
            <a:cxnLst/>
            <a:rect r="r" b="b" t="t" l="l"/>
            <a:pathLst>
              <a:path h="4714879" w="4714879">
                <a:moveTo>
                  <a:pt x="0" y="0"/>
                </a:moveTo>
                <a:lnTo>
                  <a:pt x="4714879" y="0"/>
                </a:lnTo>
                <a:lnTo>
                  <a:pt x="4714879" y="4714879"/>
                </a:lnTo>
                <a:lnTo>
                  <a:pt x="0" y="47148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10800000">
            <a:off x="10784163" y="-349387"/>
            <a:ext cx="6416812" cy="8792462"/>
            <a:chOff x="0" y="0"/>
            <a:chExt cx="504689" cy="691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355" y="0"/>
              <a:ext cx="486113" cy="691537"/>
            </a:xfrm>
            <a:custGeom>
              <a:avLst/>
              <a:gdLst/>
              <a:ahLst/>
              <a:cxnLst/>
              <a:rect r="r" b="b" t="t" l="l"/>
              <a:pathLst>
                <a:path h="691537" w="486113">
                  <a:moveTo>
                    <a:pt x="15188" y="0"/>
                  </a:moveTo>
                  <a:lnTo>
                    <a:pt x="263591" y="0"/>
                  </a:lnTo>
                  <a:cubicBezTo>
                    <a:pt x="280036" y="0"/>
                    <a:pt x="295251" y="8707"/>
                    <a:pt x="303583" y="22884"/>
                  </a:cubicBezTo>
                  <a:lnTo>
                    <a:pt x="479886" y="322884"/>
                  </a:lnTo>
                  <a:cubicBezTo>
                    <a:pt x="488188" y="337011"/>
                    <a:pt x="488188" y="354526"/>
                    <a:pt x="479886" y="368652"/>
                  </a:cubicBezTo>
                  <a:lnTo>
                    <a:pt x="303583" y="668653"/>
                  </a:lnTo>
                  <a:cubicBezTo>
                    <a:pt x="295251" y="682830"/>
                    <a:pt x="280036" y="691537"/>
                    <a:pt x="263591" y="691537"/>
                  </a:cubicBezTo>
                  <a:lnTo>
                    <a:pt x="15188" y="691537"/>
                  </a:lnTo>
                  <a:cubicBezTo>
                    <a:pt x="9741" y="691537"/>
                    <a:pt x="4711" y="688620"/>
                    <a:pt x="2005" y="683892"/>
                  </a:cubicBezTo>
                  <a:cubicBezTo>
                    <a:pt x="-700" y="679164"/>
                    <a:pt x="-667" y="673349"/>
                    <a:pt x="2093" y="668653"/>
                  </a:cubicBezTo>
                  <a:lnTo>
                    <a:pt x="178397" y="368652"/>
                  </a:lnTo>
                  <a:cubicBezTo>
                    <a:pt x="186698" y="354526"/>
                    <a:pt x="186698" y="337011"/>
                    <a:pt x="178397" y="322884"/>
                  </a:cubicBezTo>
                  <a:lnTo>
                    <a:pt x="2093" y="22884"/>
                  </a:lnTo>
                  <a:cubicBezTo>
                    <a:pt x="-667" y="18188"/>
                    <a:pt x="-700" y="12373"/>
                    <a:pt x="2005" y="7645"/>
                  </a:cubicBezTo>
                  <a:cubicBezTo>
                    <a:pt x="4711" y="2917"/>
                    <a:pt x="9741" y="0"/>
                    <a:pt x="15188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-85725"/>
              <a:ext cx="250689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631594" y="1514557"/>
            <a:ext cx="8782712" cy="7547643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231" y="0"/>
              <a:ext cx="802338" cy="698500"/>
            </a:xfrm>
            <a:custGeom>
              <a:avLst/>
              <a:gdLst/>
              <a:ahLst/>
              <a:cxnLst/>
              <a:rect r="r" b="b" t="t" l="l"/>
              <a:pathLst>
                <a:path h="698500" w="802338">
                  <a:moveTo>
                    <a:pt x="797816" y="366012"/>
                  </a:moveTo>
                  <a:lnTo>
                    <a:pt x="614122" y="681738"/>
                  </a:lnTo>
                  <a:cubicBezTo>
                    <a:pt x="608084" y="692116"/>
                    <a:pt x="596983" y="698500"/>
                    <a:pt x="584976" y="698500"/>
                  </a:cubicBezTo>
                  <a:lnTo>
                    <a:pt x="217362" y="698500"/>
                  </a:lnTo>
                  <a:cubicBezTo>
                    <a:pt x="205355" y="698500"/>
                    <a:pt x="194254" y="692116"/>
                    <a:pt x="188216" y="681738"/>
                  </a:cubicBezTo>
                  <a:lnTo>
                    <a:pt x="4522" y="366012"/>
                  </a:lnTo>
                  <a:cubicBezTo>
                    <a:pt x="-1507" y="355651"/>
                    <a:pt x="-1507" y="342849"/>
                    <a:pt x="4522" y="332488"/>
                  </a:cubicBezTo>
                  <a:lnTo>
                    <a:pt x="188216" y="16762"/>
                  </a:lnTo>
                  <a:cubicBezTo>
                    <a:pt x="194254" y="6384"/>
                    <a:pt x="205355" y="0"/>
                    <a:pt x="217362" y="0"/>
                  </a:cubicBezTo>
                  <a:lnTo>
                    <a:pt x="584976" y="0"/>
                  </a:lnTo>
                  <a:cubicBezTo>
                    <a:pt x="596983" y="0"/>
                    <a:pt x="608084" y="6384"/>
                    <a:pt x="614122" y="16762"/>
                  </a:cubicBezTo>
                  <a:lnTo>
                    <a:pt x="797816" y="332488"/>
                  </a:lnTo>
                  <a:cubicBezTo>
                    <a:pt x="803845" y="342849"/>
                    <a:pt x="803845" y="355651"/>
                    <a:pt x="797816" y="366012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595688" y="-444637"/>
            <a:ext cx="6690931" cy="889275"/>
            <a:chOff x="0" y="0"/>
            <a:chExt cx="2629005" cy="3494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0812" y="0"/>
              <a:ext cx="2607381" cy="349414"/>
            </a:xfrm>
            <a:custGeom>
              <a:avLst/>
              <a:gdLst/>
              <a:ahLst/>
              <a:cxnLst/>
              <a:rect r="r" b="b" t="t" l="l"/>
              <a:pathLst>
                <a:path h="349414" w="2607381">
                  <a:moveTo>
                    <a:pt x="217844" y="0"/>
                  </a:moveTo>
                  <a:lnTo>
                    <a:pt x="2592737" y="0"/>
                  </a:lnTo>
                  <a:cubicBezTo>
                    <a:pt x="2597977" y="0"/>
                    <a:pt x="2602818" y="2800"/>
                    <a:pt x="2605430" y="7342"/>
                  </a:cubicBezTo>
                  <a:cubicBezTo>
                    <a:pt x="2608043" y="11884"/>
                    <a:pt x="2608030" y="17476"/>
                    <a:pt x="2605396" y="22005"/>
                  </a:cubicBezTo>
                  <a:lnTo>
                    <a:pt x="2427790" y="327409"/>
                  </a:lnTo>
                  <a:cubicBezTo>
                    <a:pt x="2419867" y="341033"/>
                    <a:pt x="2405297" y="349414"/>
                    <a:pt x="2389537" y="349414"/>
                  </a:cubicBezTo>
                  <a:lnTo>
                    <a:pt x="14644" y="349414"/>
                  </a:lnTo>
                  <a:cubicBezTo>
                    <a:pt x="9404" y="349414"/>
                    <a:pt x="4563" y="346615"/>
                    <a:pt x="1950" y="342073"/>
                  </a:cubicBezTo>
                  <a:cubicBezTo>
                    <a:pt x="-662" y="337531"/>
                    <a:pt x="-649" y="331939"/>
                    <a:pt x="1985" y="327409"/>
                  </a:cubicBezTo>
                  <a:lnTo>
                    <a:pt x="179591" y="22005"/>
                  </a:lnTo>
                  <a:cubicBezTo>
                    <a:pt x="187514" y="8382"/>
                    <a:pt x="202084" y="0"/>
                    <a:pt x="217844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85725"/>
              <a:ext cx="2425805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027939" y="-198608"/>
            <a:ext cx="4113279" cy="1058291"/>
            <a:chOff x="0" y="0"/>
            <a:chExt cx="1358075" cy="3494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7588" y="0"/>
              <a:ext cx="1322900" cy="349414"/>
            </a:xfrm>
            <a:custGeom>
              <a:avLst/>
              <a:gdLst/>
              <a:ahLst/>
              <a:cxnLst/>
              <a:rect r="r" b="b" t="t" l="l"/>
              <a:pathLst>
                <a:path h="349414" w="1322900">
                  <a:moveTo>
                    <a:pt x="227020" y="0"/>
                  </a:moveTo>
                  <a:lnTo>
                    <a:pt x="1299079" y="0"/>
                  </a:lnTo>
                  <a:cubicBezTo>
                    <a:pt x="1307603" y="0"/>
                    <a:pt x="1315476" y="4554"/>
                    <a:pt x="1319727" y="11943"/>
                  </a:cubicBezTo>
                  <a:cubicBezTo>
                    <a:pt x="1323977" y="19331"/>
                    <a:pt x="1323955" y="28427"/>
                    <a:pt x="1319670" y="35795"/>
                  </a:cubicBezTo>
                  <a:lnTo>
                    <a:pt x="1158103" y="313619"/>
                  </a:lnTo>
                  <a:cubicBezTo>
                    <a:pt x="1145216" y="335780"/>
                    <a:pt x="1121515" y="349414"/>
                    <a:pt x="1095879" y="349414"/>
                  </a:cubicBezTo>
                  <a:lnTo>
                    <a:pt x="23820" y="349414"/>
                  </a:lnTo>
                  <a:cubicBezTo>
                    <a:pt x="15296" y="349414"/>
                    <a:pt x="7422" y="344860"/>
                    <a:pt x="3172" y="337472"/>
                  </a:cubicBezTo>
                  <a:cubicBezTo>
                    <a:pt x="-1078" y="330084"/>
                    <a:pt x="-1056" y="320987"/>
                    <a:pt x="3228" y="313619"/>
                  </a:cubicBezTo>
                  <a:lnTo>
                    <a:pt x="164796" y="35795"/>
                  </a:lnTo>
                  <a:cubicBezTo>
                    <a:pt x="177683" y="13634"/>
                    <a:pt x="201384" y="0"/>
                    <a:pt x="227020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85725"/>
              <a:ext cx="1154875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262530" y="8772689"/>
            <a:ext cx="2779171" cy="1890178"/>
          </a:xfrm>
          <a:custGeom>
            <a:avLst/>
            <a:gdLst/>
            <a:ahLst/>
            <a:cxnLst/>
            <a:rect r="r" b="b" t="t" l="l"/>
            <a:pathLst>
              <a:path h="1890178" w="2779171">
                <a:moveTo>
                  <a:pt x="0" y="0"/>
                </a:moveTo>
                <a:lnTo>
                  <a:pt x="2779170" y="0"/>
                </a:lnTo>
                <a:lnTo>
                  <a:pt x="2779170" y="1890177"/>
                </a:lnTo>
                <a:lnTo>
                  <a:pt x="0" y="1890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691" t="0" r="0" b="-11963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51784" t="-261457" r="-92831" b="-825712"/>
            </a:stretch>
          </a:blipFill>
        </p:spPr>
      </p:sp>
      <p:graphicFrame>
        <p:nvGraphicFramePr>
          <p:cNvPr name="Object 18" id="18"/>
          <p:cNvGraphicFramePr/>
          <p:nvPr/>
        </p:nvGraphicFramePr>
        <p:xfrm>
          <a:off x="2058544" y="2785541"/>
          <a:ext cx="9429750" cy="3143250"/>
        </p:xfrm>
        <a:graphic>
          <a:graphicData uri="http://schemas.openxmlformats.org/presentationml/2006/ole">
            <p:oleObj imgW="11315700" imgH="50292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379280" y="2134870"/>
            <a:ext cx="7221082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Perbandingan Hasil 4 Skenario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7055" y="1152525"/>
            <a:ext cx="9322151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408">
                <a:solidFill>
                  <a:srgbClr val="1C1C1C"/>
                </a:solidFill>
                <a:latin typeface="Helvetica Now"/>
                <a:ea typeface="Helvetica Now"/>
                <a:cs typeface="Helvetica Now"/>
                <a:sym typeface="Helvetica Now"/>
              </a:rPr>
              <a:t>HASIL PENGUJIAN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58544" y="6779609"/>
            <a:ext cx="9569914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Poi</a:t>
            </a: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n uta</a:t>
            </a: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ma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Skenario</a:t>
            </a:r>
            <a:r>
              <a:rPr lang="en-US" sz="2399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 3 menghasilkan nilai metrik tertinggi pada eksperimen.</a:t>
            </a:r>
          </a:p>
          <a:p>
            <a:pPr algn="l">
              <a:lnSpc>
                <a:spcPts val="383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5549" y="7969353"/>
            <a:ext cx="3386963" cy="2733636"/>
          </a:xfrm>
          <a:custGeom>
            <a:avLst/>
            <a:gdLst/>
            <a:ahLst/>
            <a:cxnLst/>
            <a:rect r="r" b="b" t="t" l="l"/>
            <a:pathLst>
              <a:path h="2733636" w="3386963">
                <a:moveTo>
                  <a:pt x="0" y="0"/>
                </a:moveTo>
                <a:lnTo>
                  <a:pt x="3386963" y="0"/>
                </a:lnTo>
                <a:lnTo>
                  <a:pt x="3386963" y="2733636"/>
                </a:lnTo>
                <a:lnTo>
                  <a:pt x="0" y="27336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2984" t="0" r="0" b="-47615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2239347" y="6894722"/>
            <a:ext cx="4478694" cy="4114800"/>
          </a:xfrm>
          <a:custGeom>
            <a:avLst/>
            <a:gdLst/>
            <a:ahLst/>
            <a:cxnLst/>
            <a:rect r="r" b="b" t="t" l="l"/>
            <a:pathLst>
              <a:path h="4114800" w="4478694">
                <a:moveTo>
                  <a:pt x="0" y="0"/>
                </a:moveTo>
                <a:lnTo>
                  <a:pt x="4478694" y="0"/>
                </a:lnTo>
                <a:lnTo>
                  <a:pt x="4478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-10800000">
            <a:off x="858899" y="-874671"/>
            <a:ext cx="6520580" cy="9117742"/>
            <a:chOff x="0" y="0"/>
            <a:chExt cx="494555" cy="6915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1174" y="0"/>
              <a:ext cx="476274" cy="691537"/>
            </a:xfrm>
            <a:custGeom>
              <a:avLst/>
              <a:gdLst/>
              <a:ahLst/>
              <a:cxnLst/>
              <a:rect r="r" b="b" t="t" l="l"/>
              <a:pathLst>
                <a:path h="691537" w="476274">
                  <a:moveTo>
                    <a:pt x="14947" y="0"/>
                  </a:moveTo>
                  <a:lnTo>
                    <a:pt x="254060" y="0"/>
                  </a:lnTo>
                  <a:cubicBezTo>
                    <a:pt x="270243" y="0"/>
                    <a:pt x="285216" y="8568"/>
                    <a:pt x="293415" y="22520"/>
                  </a:cubicBezTo>
                  <a:lnTo>
                    <a:pt x="470146" y="323249"/>
                  </a:lnTo>
                  <a:cubicBezTo>
                    <a:pt x="478316" y="337150"/>
                    <a:pt x="478316" y="354386"/>
                    <a:pt x="470146" y="368288"/>
                  </a:cubicBezTo>
                  <a:lnTo>
                    <a:pt x="293415" y="669017"/>
                  </a:lnTo>
                  <a:cubicBezTo>
                    <a:pt x="285216" y="682969"/>
                    <a:pt x="270243" y="691537"/>
                    <a:pt x="254060" y="691537"/>
                  </a:cubicBezTo>
                  <a:lnTo>
                    <a:pt x="14947" y="691537"/>
                  </a:lnTo>
                  <a:cubicBezTo>
                    <a:pt x="9586" y="691537"/>
                    <a:pt x="4636" y="688666"/>
                    <a:pt x="1974" y="684013"/>
                  </a:cubicBezTo>
                  <a:cubicBezTo>
                    <a:pt x="-689" y="679361"/>
                    <a:pt x="-656" y="673639"/>
                    <a:pt x="2060" y="669017"/>
                  </a:cubicBezTo>
                  <a:lnTo>
                    <a:pt x="178792" y="368288"/>
                  </a:lnTo>
                  <a:cubicBezTo>
                    <a:pt x="186961" y="354386"/>
                    <a:pt x="186961" y="337150"/>
                    <a:pt x="178792" y="323249"/>
                  </a:cubicBezTo>
                  <a:lnTo>
                    <a:pt x="2060" y="22520"/>
                  </a:lnTo>
                  <a:cubicBezTo>
                    <a:pt x="-656" y="17898"/>
                    <a:pt x="-689" y="12176"/>
                    <a:pt x="1974" y="7523"/>
                  </a:cubicBezTo>
                  <a:cubicBezTo>
                    <a:pt x="4636" y="2871"/>
                    <a:pt x="9586" y="0"/>
                    <a:pt x="14947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85725"/>
              <a:ext cx="240555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811886" y="4950477"/>
            <a:ext cx="2780866" cy="3888491"/>
            <a:chOff x="0" y="0"/>
            <a:chExt cx="494555" cy="6915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6201" y="0"/>
              <a:ext cx="451689" cy="691537"/>
            </a:xfrm>
            <a:custGeom>
              <a:avLst/>
              <a:gdLst/>
              <a:ahLst/>
              <a:cxnLst/>
              <a:rect r="r" b="b" t="t" l="l"/>
              <a:pathLst>
                <a:path h="691537" w="451689">
                  <a:moveTo>
                    <a:pt x="35047" y="0"/>
                  </a:moveTo>
                  <a:lnTo>
                    <a:pt x="203906" y="0"/>
                  </a:lnTo>
                  <a:cubicBezTo>
                    <a:pt x="241851" y="0"/>
                    <a:pt x="276960" y="20090"/>
                    <a:pt x="296186" y="52805"/>
                  </a:cubicBezTo>
                  <a:lnTo>
                    <a:pt x="437322" y="292964"/>
                  </a:lnTo>
                  <a:cubicBezTo>
                    <a:pt x="456478" y="325561"/>
                    <a:pt x="456478" y="365976"/>
                    <a:pt x="437322" y="398573"/>
                  </a:cubicBezTo>
                  <a:lnTo>
                    <a:pt x="296186" y="638732"/>
                  </a:lnTo>
                  <a:cubicBezTo>
                    <a:pt x="276960" y="671447"/>
                    <a:pt x="241851" y="691537"/>
                    <a:pt x="203906" y="691537"/>
                  </a:cubicBezTo>
                  <a:lnTo>
                    <a:pt x="35047" y="691537"/>
                  </a:lnTo>
                  <a:cubicBezTo>
                    <a:pt x="22477" y="691537"/>
                    <a:pt x="10870" y="684806"/>
                    <a:pt x="4628" y="673896"/>
                  </a:cubicBezTo>
                  <a:cubicBezTo>
                    <a:pt x="-1615" y="662986"/>
                    <a:pt x="-1537" y="649569"/>
                    <a:pt x="4831" y="638732"/>
                  </a:cubicBezTo>
                  <a:lnTo>
                    <a:pt x="145967" y="398573"/>
                  </a:lnTo>
                  <a:cubicBezTo>
                    <a:pt x="165123" y="365976"/>
                    <a:pt x="165123" y="325561"/>
                    <a:pt x="145967" y="292964"/>
                  </a:cubicBezTo>
                  <a:lnTo>
                    <a:pt x="4831" y="52805"/>
                  </a:lnTo>
                  <a:cubicBezTo>
                    <a:pt x="-1537" y="41968"/>
                    <a:pt x="-1615" y="28550"/>
                    <a:pt x="4628" y="17641"/>
                  </a:cubicBezTo>
                  <a:cubicBezTo>
                    <a:pt x="10870" y="6731"/>
                    <a:pt x="22477" y="0"/>
                    <a:pt x="35047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85725"/>
              <a:ext cx="240555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097980" y="71120"/>
            <a:ext cx="6520580" cy="5603624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046" y="0"/>
              <a:ext cx="798708" cy="698500"/>
            </a:xfrm>
            <a:custGeom>
              <a:avLst/>
              <a:gdLst/>
              <a:ahLst/>
              <a:cxnLst/>
              <a:rect r="r" b="b" t="t" l="l"/>
              <a:pathLst>
                <a:path h="698500" w="798708">
                  <a:moveTo>
                    <a:pt x="792618" y="371827"/>
                  </a:moveTo>
                  <a:lnTo>
                    <a:pt x="615690" y="675923"/>
                  </a:lnTo>
                  <a:cubicBezTo>
                    <a:pt x="607557" y="689901"/>
                    <a:pt x="592605" y="698500"/>
                    <a:pt x="576433" y="698500"/>
                  </a:cubicBezTo>
                  <a:lnTo>
                    <a:pt x="222275" y="698500"/>
                  </a:lnTo>
                  <a:cubicBezTo>
                    <a:pt x="206103" y="698500"/>
                    <a:pt x="191151" y="689901"/>
                    <a:pt x="183018" y="675923"/>
                  </a:cubicBezTo>
                  <a:lnTo>
                    <a:pt x="6090" y="371827"/>
                  </a:lnTo>
                  <a:cubicBezTo>
                    <a:pt x="-2030" y="357871"/>
                    <a:pt x="-2030" y="340629"/>
                    <a:pt x="6090" y="326673"/>
                  </a:cubicBezTo>
                  <a:lnTo>
                    <a:pt x="183018" y="22577"/>
                  </a:lnTo>
                  <a:cubicBezTo>
                    <a:pt x="191151" y="8599"/>
                    <a:pt x="206103" y="0"/>
                    <a:pt x="222275" y="0"/>
                  </a:cubicBezTo>
                  <a:lnTo>
                    <a:pt x="576433" y="0"/>
                  </a:lnTo>
                  <a:cubicBezTo>
                    <a:pt x="592605" y="0"/>
                    <a:pt x="607557" y="8599"/>
                    <a:pt x="615690" y="22577"/>
                  </a:cubicBezTo>
                  <a:lnTo>
                    <a:pt x="792618" y="326673"/>
                  </a:lnTo>
                  <a:cubicBezTo>
                    <a:pt x="800738" y="340629"/>
                    <a:pt x="800738" y="357871"/>
                    <a:pt x="792618" y="371827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718882" y="2042695"/>
            <a:ext cx="685788" cy="684931"/>
          </a:xfrm>
          <a:custGeom>
            <a:avLst/>
            <a:gdLst/>
            <a:ahLst/>
            <a:cxnLst/>
            <a:rect r="r" b="b" t="t" l="l"/>
            <a:pathLst>
              <a:path h="684931" w="685788">
                <a:moveTo>
                  <a:pt x="0" y="0"/>
                </a:moveTo>
                <a:lnTo>
                  <a:pt x="685789" y="0"/>
                </a:lnTo>
                <a:lnTo>
                  <a:pt x="685789" y="684931"/>
                </a:lnTo>
                <a:lnTo>
                  <a:pt x="0" y="684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-2309807" y="7488055"/>
            <a:ext cx="4068517" cy="3496382"/>
            <a:chOff x="0" y="0"/>
            <a:chExt cx="812800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1292" y="0"/>
              <a:ext cx="790215" cy="698500"/>
            </a:xfrm>
            <a:custGeom>
              <a:avLst/>
              <a:gdLst/>
              <a:ahLst/>
              <a:cxnLst/>
              <a:rect r="r" b="b" t="t" l="l"/>
              <a:pathLst>
                <a:path h="698500" w="790215">
                  <a:moveTo>
                    <a:pt x="780455" y="385435"/>
                  </a:moveTo>
                  <a:lnTo>
                    <a:pt x="619361" y="662315"/>
                  </a:lnTo>
                  <a:cubicBezTo>
                    <a:pt x="606327" y="684718"/>
                    <a:pt x="582363" y="698500"/>
                    <a:pt x="556445" y="698500"/>
                  </a:cubicBezTo>
                  <a:lnTo>
                    <a:pt x="233771" y="698500"/>
                  </a:lnTo>
                  <a:cubicBezTo>
                    <a:pt x="207853" y="698500"/>
                    <a:pt x="183889" y="684718"/>
                    <a:pt x="170855" y="662315"/>
                  </a:cubicBezTo>
                  <a:lnTo>
                    <a:pt x="9761" y="385435"/>
                  </a:lnTo>
                  <a:cubicBezTo>
                    <a:pt x="-3253" y="363067"/>
                    <a:pt x="-3253" y="335433"/>
                    <a:pt x="9761" y="313065"/>
                  </a:cubicBezTo>
                  <a:lnTo>
                    <a:pt x="170855" y="36185"/>
                  </a:lnTo>
                  <a:cubicBezTo>
                    <a:pt x="183889" y="13782"/>
                    <a:pt x="207853" y="0"/>
                    <a:pt x="233771" y="0"/>
                  </a:cubicBezTo>
                  <a:lnTo>
                    <a:pt x="556445" y="0"/>
                  </a:lnTo>
                  <a:cubicBezTo>
                    <a:pt x="582363" y="0"/>
                    <a:pt x="606327" y="13782"/>
                    <a:pt x="619361" y="36185"/>
                  </a:cubicBezTo>
                  <a:lnTo>
                    <a:pt x="780455" y="313065"/>
                  </a:lnTo>
                  <a:cubicBezTo>
                    <a:pt x="793469" y="335433"/>
                    <a:pt x="793469" y="363067"/>
                    <a:pt x="780455" y="385435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305032" y="620819"/>
            <a:ext cx="6471512" cy="0"/>
          </a:xfrm>
          <a:prstGeom prst="line">
            <a:avLst/>
          </a:prstGeom>
          <a:ln cap="flat" w="9525">
            <a:solidFill>
              <a:srgbClr val="4444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4115788" y="10032022"/>
            <a:ext cx="7295875" cy="1279620"/>
            <a:chOff x="0" y="0"/>
            <a:chExt cx="3982564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297" y="0"/>
              <a:ext cx="3969970" cy="698500"/>
            </a:xfrm>
            <a:custGeom>
              <a:avLst/>
              <a:gdLst/>
              <a:ahLst/>
              <a:cxnLst/>
              <a:rect r="r" b="b" t="t" l="l"/>
              <a:pathLst>
                <a:path h="698500" w="3969970">
                  <a:moveTo>
                    <a:pt x="3964527" y="369428"/>
                  </a:moveTo>
                  <a:lnTo>
                    <a:pt x="3784807" y="678322"/>
                  </a:lnTo>
                  <a:cubicBezTo>
                    <a:pt x="3777538" y="690815"/>
                    <a:pt x="3764175" y="698500"/>
                    <a:pt x="3749722" y="698500"/>
                  </a:cubicBezTo>
                  <a:lnTo>
                    <a:pt x="220248" y="698500"/>
                  </a:lnTo>
                  <a:cubicBezTo>
                    <a:pt x="205795" y="698500"/>
                    <a:pt x="192431" y="690815"/>
                    <a:pt x="185163" y="678322"/>
                  </a:cubicBezTo>
                  <a:lnTo>
                    <a:pt x="5443" y="369428"/>
                  </a:lnTo>
                  <a:cubicBezTo>
                    <a:pt x="-1814" y="356955"/>
                    <a:pt x="-1814" y="341545"/>
                    <a:pt x="5443" y="329072"/>
                  </a:cubicBezTo>
                  <a:lnTo>
                    <a:pt x="185163" y="20178"/>
                  </a:lnTo>
                  <a:cubicBezTo>
                    <a:pt x="192431" y="7685"/>
                    <a:pt x="205795" y="0"/>
                    <a:pt x="220248" y="0"/>
                  </a:cubicBezTo>
                  <a:lnTo>
                    <a:pt x="3749722" y="0"/>
                  </a:lnTo>
                  <a:cubicBezTo>
                    <a:pt x="3764175" y="0"/>
                    <a:pt x="3777538" y="7685"/>
                    <a:pt x="3784807" y="20178"/>
                  </a:cubicBezTo>
                  <a:lnTo>
                    <a:pt x="3964527" y="329072"/>
                  </a:lnTo>
                  <a:cubicBezTo>
                    <a:pt x="3971784" y="341545"/>
                    <a:pt x="3971784" y="356955"/>
                    <a:pt x="3964527" y="369428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85725"/>
              <a:ext cx="3753964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6304797" y="-143209"/>
            <a:ext cx="2574236" cy="1518530"/>
          </a:xfrm>
          <a:custGeom>
            <a:avLst/>
            <a:gdLst/>
            <a:ahLst/>
            <a:cxnLst/>
            <a:rect r="r" b="b" t="t" l="l"/>
            <a:pathLst>
              <a:path h="1518530" w="2574236">
                <a:moveTo>
                  <a:pt x="0" y="0"/>
                </a:moveTo>
                <a:lnTo>
                  <a:pt x="2574236" y="0"/>
                </a:lnTo>
                <a:lnTo>
                  <a:pt x="2574236" y="1518531"/>
                </a:lnTo>
                <a:lnTo>
                  <a:pt x="0" y="15185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11241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800000">
            <a:off x="5262189" y="-497398"/>
            <a:ext cx="1682220" cy="1682220"/>
          </a:xfrm>
          <a:custGeom>
            <a:avLst/>
            <a:gdLst/>
            <a:ahLst/>
            <a:cxnLst/>
            <a:rect r="r" b="b" t="t" l="l"/>
            <a:pathLst>
              <a:path h="1682220" w="1682220">
                <a:moveTo>
                  <a:pt x="0" y="0"/>
                </a:moveTo>
                <a:lnTo>
                  <a:pt x="1682220" y="0"/>
                </a:lnTo>
                <a:lnTo>
                  <a:pt x="1682220" y="1682220"/>
                </a:lnTo>
                <a:lnTo>
                  <a:pt x="0" y="16822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36489" y="1839995"/>
            <a:ext cx="6942990" cy="6129358"/>
          </a:xfrm>
          <a:custGeom>
            <a:avLst/>
            <a:gdLst/>
            <a:ahLst/>
            <a:cxnLst/>
            <a:rect r="r" b="b" t="t" l="l"/>
            <a:pathLst>
              <a:path h="6129358" w="6942990">
                <a:moveTo>
                  <a:pt x="0" y="0"/>
                </a:moveTo>
                <a:lnTo>
                  <a:pt x="6942990" y="0"/>
                </a:lnTo>
                <a:lnTo>
                  <a:pt x="6942990" y="6129358"/>
                </a:lnTo>
                <a:lnTo>
                  <a:pt x="0" y="61293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468051" y="920416"/>
            <a:ext cx="6773365" cy="190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9"/>
              </a:lnSpc>
            </a:pPr>
            <a:r>
              <a:rPr lang="en-US" sz="7399" spc="-443">
                <a:solidFill>
                  <a:srgbClr val="1C1C1C"/>
                </a:solidFill>
                <a:latin typeface="Helvetica Now"/>
                <a:ea typeface="Helvetica Now"/>
                <a:cs typeface="Helvetica Now"/>
                <a:sym typeface="Helvetica Now"/>
              </a:rPr>
              <a:t>CONFUSION MATRIX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88705" y="2889069"/>
            <a:ext cx="7484868" cy="479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6"/>
              </a:lnSpc>
            </a:pPr>
            <a:r>
              <a:rPr lang="en-US" sz="2197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Confusion Matrix</a:t>
            </a:r>
          </a:p>
          <a:p>
            <a:pPr algn="l">
              <a:lnSpc>
                <a:spcPts val="3516"/>
              </a:lnSpc>
            </a:pPr>
            <a:r>
              <a:rPr lang="en-US" sz="219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Confusion </a:t>
            </a:r>
            <a:r>
              <a:rPr lang="en-US" sz="219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matrix digunakan untuk melihat:</a:t>
            </a:r>
          </a:p>
          <a:p>
            <a:pPr algn="l" marL="474445" indent="-237223" lvl="1">
              <a:lnSpc>
                <a:spcPts val="3516"/>
              </a:lnSpc>
              <a:buFont typeface="Arial"/>
              <a:buChar char="•"/>
            </a:pPr>
            <a:r>
              <a:rPr lang="en-US" sz="219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Prediksi benar pada setiap kelas</a:t>
            </a:r>
          </a:p>
          <a:p>
            <a:pPr algn="l" marL="474445" indent="-237223" lvl="1">
              <a:lnSpc>
                <a:spcPts val="3516"/>
              </a:lnSpc>
              <a:buFont typeface="Arial"/>
              <a:buChar char="•"/>
            </a:pPr>
            <a:r>
              <a:rPr lang="en-US" sz="219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Kesalahan klasifikasi</a:t>
            </a:r>
          </a:p>
          <a:p>
            <a:pPr algn="l" marL="474445" indent="-237223" lvl="1">
              <a:lnSpc>
                <a:spcPts val="3516"/>
              </a:lnSpc>
              <a:buFont typeface="Arial"/>
              <a:buChar char="•"/>
            </a:pPr>
            <a:r>
              <a:rPr lang="en-US" sz="219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Kelas yang paling sering tertukar</a:t>
            </a:r>
          </a:p>
          <a:p>
            <a:pPr algn="l">
              <a:lnSpc>
                <a:spcPts val="3516"/>
              </a:lnSpc>
            </a:pPr>
            <a:r>
              <a:rPr lang="en-US" sz="2197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Skenario 3</a:t>
            </a:r>
          </a:p>
          <a:p>
            <a:pPr algn="l">
              <a:lnSpc>
                <a:spcPts val="3516"/>
              </a:lnSpc>
            </a:pPr>
            <a:r>
              <a:rPr lang="en-US" sz="219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Dari 32 data testing:</a:t>
            </a:r>
          </a:p>
          <a:p>
            <a:pPr algn="l" marL="474445" indent="-237223" lvl="1">
              <a:lnSpc>
                <a:spcPts val="3516"/>
              </a:lnSpc>
              <a:buFont typeface="Arial"/>
              <a:buChar char="•"/>
            </a:pPr>
            <a:r>
              <a:rPr lang="en-US" sz="219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28 data berhasil diklasifikasikan dengan benar</a:t>
            </a:r>
          </a:p>
          <a:p>
            <a:pPr algn="l" marL="474445" indent="-237223" lvl="1">
              <a:lnSpc>
                <a:spcPts val="3516"/>
              </a:lnSpc>
              <a:buFont typeface="Arial"/>
              <a:buChar char="•"/>
            </a:pPr>
            <a:r>
              <a:rPr lang="en-US" sz="219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Accuracy = 87,50%</a:t>
            </a:r>
          </a:p>
          <a:p>
            <a:pPr algn="l" marL="474445" indent="-237223" lvl="1">
              <a:lnSpc>
                <a:spcPts val="3516"/>
              </a:lnSpc>
              <a:buFont typeface="Arial"/>
              <a:buChar char="•"/>
            </a:pPr>
            <a:r>
              <a:rPr lang="en-US" sz="219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Kesalahan terutama terjadi pada plastic_bottles</a:t>
            </a:r>
          </a:p>
          <a:p>
            <a:pPr algn="l">
              <a:lnSpc>
                <a:spcPts val="3516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4550757" y="2796731"/>
            <a:ext cx="4172212" cy="323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05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Pada Skenario 3:</a:t>
            </a:r>
          </a:p>
          <a:p>
            <a:pPr algn="l" marL="442985" indent="-221493" lvl="1">
              <a:lnSpc>
                <a:spcPts val="3282"/>
              </a:lnSpc>
              <a:buFont typeface="Arial"/>
              <a:buChar char="•"/>
            </a:pPr>
            <a:r>
              <a:rPr lang="en-US" sz="205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metal_cans → 8 benar</a:t>
            </a:r>
          </a:p>
          <a:p>
            <a:pPr algn="l" marL="442985" indent="-221493" lvl="1">
              <a:lnSpc>
                <a:spcPts val="3282"/>
              </a:lnSpc>
              <a:buFont typeface="Arial"/>
              <a:buChar char="•"/>
            </a:pPr>
            <a:r>
              <a:rPr lang="en-US" sz="205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paper_waste → 7 benar</a:t>
            </a:r>
          </a:p>
          <a:p>
            <a:pPr algn="l" marL="442985" indent="-221493" lvl="1">
              <a:lnSpc>
                <a:spcPts val="3282"/>
              </a:lnSpc>
              <a:buFont typeface="Arial"/>
              <a:buChar char="•"/>
            </a:pPr>
            <a:r>
              <a:rPr lang="en-US" sz="205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pl</a:t>
            </a:r>
            <a:r>
              <a:rPr lang="en-US" sz="205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astic_bottles → 5 benar</a:t>
            </a:r>
          </a:p>
          <a:p>
            <a:pPr algn="l" marL="442985" indent="-221493" lvl="1">
              <a:lnSpc>
                <a:spcPts val="3282"/>
              </a:lnSpc>
              <a:buFont typeface="Arial"/>
              <a:buChar char="•"/>
            </a:pPr>
            <a:r>
              <a:rPr lang="en-US" sz="205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wood_w</a:t>
            </a:r>
            <a:r>
              <a:rPr lang="en-US" sz="205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aste → 8 benar</a:t>
            </a:r>
          </a:p>
          <a:p>
            <a:pPr algn="l">
              <a:lnSpc>
                <a:spcPts val="3282"/>
              </a:lnSpc>
            </a:pPr>
          </a:p>
          <a:p>
            <a:pPr algn="l">
              <a:lnSpc>
                <a:spcPts val="3282"/>
              </a:lnSpc>
            </a:pPr>
          </a:p>
          <a:p>
            <a:pPr algn="l">
              <a:lnSpc>
                <a:spcPts val="328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6581412" y="-2049764"/>
            <a:ext cx="14287757" cy="6626244"/>
            <a:chOff x="0" y="0"/>
            <a:chExt cx="1491118" cy="6915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99" y="0"/>
              <a:ext cx="1482775" cy="691537"/>
            </a:xfrm>
            <a:custGeom>
              <a:avLst/>
              <a:gdLst/>
              <a:ahLst/>
              <a:cxnLst/>
              <a:rect r="r" b="b" t="t" l="l"/>
              <a:pathLst>
                <a:path h="691537" w="1482775">
                  <a:moveTo>
                    <a:pt x="6822" y="0"/>
                  </a:moveTo>
                  <a:lnTo>
                    <a:pt x="1270898" y="0"/>
                  </a:lnTo>
                  <a:cubicBezTo>
                    <a:pt x="1278283" y="0"/>
                    <a:pt x="1285117" y="3910"/>
                    <a:pt x="1288859" y="10277"/>
                  </a:cubicBezTo>
                  <a:lnTo>
                    <a:pt x="1479979" y="335491"/>
                  </a:lnTo>
                  <a:cubicBezTo>
                    <a:pt x="1483707" y="341835"/>
                    <a:pt x="1483707" y="349701"/>
                    <a:pt x="1479979" y="356046"/>
                  </a:cubicBezTo>
                  <a:lnTo>
                    <a:pt x="1288859" y="681259"/>
                  </a:lnTo>
                  <a:cubicBezTo>
                    <a:pt x="1285117" y="687627"/>
                    <a:pt x="1278283" y="691537"/>
                    <a:pt x="1270898" y="691537"/>
                  </a:cubicBezTo>
                  <a:lnTo>
                    <a:pt x="6822" y="691537"/>
                  </a:lnTo>
                  <a:cubicBezTo>
                    <a:pt x="4375" y="691537"/>
                    <a:pt x="2116" y="690227"/>
                    <a:pt x="901" y="688103"/>
                  </a:cubicBezTo>
                  <a:cubicBezTo>
                    <a:pt x="-314" y="685980"/>
                    <a:pt x="-299" y="683369"/>
                    <a:pt x="941" y="681259"/>
                  </a:cubicBezTo>
                  <a:lnTo>
                    <a:pt x="192061" y="356046"/>
                  </a:lnTo>
                  <a:cubicBezTo>
                    <a:pt x="195790" y="349701"/>
                    <a:pt x="195790" y="341835"/>
                    <a:pt x="192061" y="335491"/>
                  </a:cubicBezTo>
                  <a:lnTo>
                    <a:pt x="941" y="10277"/>
                  </a:lnTo>
                  <a:cubicBezTo>
                    <a:pt x="-299" y="8168"/>
                    <a:pt x="-314" y="5557"/>
                    <a:pt x="901" y="3433"/>
                  </a:cubicBezTo>
                  <a:cubicBezTo>
                    <a:pt x="2116" y="1310"/>
                    <a:pt x="4375" y="0"/>
                    <a:pt x="6822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77800" y="-85725"/>
              <a:ext cx="1237118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804311" y="4530620"/>
            <a:ext cx="4157575" cy="5214137"/>
            <a:chOff x="0" y="0"/>
            <a:chExt cx="551408" cy="691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7525" y="0"/>
              <a:ext cx="522737" cy="691537"/>
            </a:xfrm>
            <a:custGeom>
              <a:avLst/>
              <a:gdLst/>
              <a:ahLst/>
              <a:cxnLst/>
              <a:rect r="r" b="b" t="t" l="l"/>
              <a:pathLst>
                <a:path h="691537" w="522737">
                  <a:moveTo>
                    <a:pt x="23442" y="0"/>
                  </a:moveTo>
                  <a:lnTo>
                    <a:pt x="289716" y="0"/>
                  </a:lnTo>
                  <a:cubicBezTo>
                    <a:pt x="315096" y="0"/>
                    <a:pt x="338580" y="13438"/>
                    <a:pt x="351439" y="35319"/>
                  </a:cubicBezTo>
                  <a:lnTo>
                    <a:pt x="513127" y="310449"/>
                  </a:lnTo>
                  <a:cubicBezTo>
                    <a:pt x="525940" y="332252"/>
                    <a:pt x="525940" y="359285"/>
                    <a:pt x="513127" y="381088"/>
                  </a:cubicBezTo>
                  <a:lnTo>
                    <a:pt x="351439" y="656218"/>
                  </a:lnTo>
                  <a:cubicBezTo>
                    <a:pt x="338580" y="678099"/>
                    <a:pt x="315096" y="691537"/>
                    <a:pt x="289716" y="691537"/>
                  </a:cubicBezTo>
                  <a:lnTo>
                    <a:pt x="23442" y="691537"/>
                  </a:lnTo>
                  <a:cubicBezTo>
                    <a:pt x="15034" y="691537"/>
                    <a:pt x="7271" y="687035"/>
                    <a:pt x="3095" y="679737"/>
                  </a:cubicBezTo>
                  <a:cubicBezTo>
                    <a:pt x="-1080" y="672440"/>
                    <a:pt x="-1028" y="663466"/>
                    <a:pt x="3231" y="656218"/>
                  </a:cubicBezTo>
                  <a:lnTo>
                    <a:pt x="164919" y="381088"/>
                  </a:lnTo>
                  <a:cubicBezTo>
                    <a:pt x="177732" y="359285"/>
                    <a:pt x="177732" y="332252"/>
                    <a:pt x="164919" y="310449"/>
                  </a:cubicBezTo>
                  <a:lnTo>
                    <a:pt x="3231" y="35319"/>
                  </a:lnTo>
                  <a:cubicBezTo>
                    <a:pt x="-1028" y="28071"/>
                    <a:pt x="-1080" y="19096"/>
                    <a:pt x="3095" y="11799"/>
                  </a:cubicBezTo>
                  <a:cubicBezTo>
                    <a:pt x="7271" y="4502"/>
                    <a:pt x="15034" y="0"/>
                    <a:pt x="23442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85725"/>
              <a:ext cx="297408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958027" y="-2837278"/>
            <a:ext cx="3623236" cy="4840703"/>
            <a:chOff x="0" y="0"/>
            <a:chExt cx="517611" cy="691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0109" y="0"/>
              <a:ext cx="484712" cy="691537"/>
            </a:xfrm>
            <a:custGeom>
              <a:avLst/>
              <a:gdLst/>
              <a:ahLst/>
              <a:cxnLst/>
              <a:rect r="r" b="b" t="t" l="l"/>
              <a:pathLst>
                <a:path h="691537" w="484712">
                  <a:moveTo>
                    <a:pt x="26899" y="0"/>
                  </a:moveTo>
                  <a:lnTo>
                    <a:pt x="247294" y="0"/>
                  </a:lnTo>
                  <a:cubicBezTo>
                    <a:pt x="276417" y="0"/>
                    <a:pt x="303364" y="15419"/>
                    <a:pt x="318119" y="40528"/>
                  </a:cubicBezTo>
                  <a:lnTo>
                    <a:pt x="473685" y="305240"/>
                  </a:lnTo>
                  <a:cubicBezTo>
                    <a:pt x="488387" y="330259"/>
                    <a:pt x="488387" y="361278"/>
                    <a:pt x="473685" y="386296"/>
                  </a:cubicBezTo>
                  <a:lnTo>
                    <a:pt x="318119" y="651009"/>
                  </a:lnTo>
                  <a:cubicBezTo>
                    <a:pt x="303364" y="676117"/>
                    <a:pt x="276417" y="691537"/>
                    <a:pt x="247294" y="691537"/>
                  </a:cubicBezTo>
                  <a:lnTo>
                    <a:pt x="26899" y="691537"/>
                  </a:lnTo>
                  <a:cubicBezTo>
                    <a:pt x="17252" y="691537"/>
                    <a:pt x="8344" y="686371"/>
                    <a:pt x="3552" y="677997"/>
                  </a:cubicBezTo>
                  <a:cubicBezTo>
                    <a:pt x="-1239" y="669624"/>
                    <a:pt x="-1180" y="659326"/>
                    <a:pt x="3708" y="651009"/>
                  </a:cubicBezTo>
                  <a:lnTo>
                    <a:pt x="159274" y="386296"/>
                  </a:lnTo>
                  <a:cubicBezTo>
                    <a:pt x="173976" y="361278"/>
                    <a:pt x="173976" y="330259"/>
                    <a:pt x="159274" y="305240"/>
                  </a:cubicBezTo>
                  <a:lnTo>
                    <a:pt x="3708" y="40528"/>
                  </a:lnTo>
                  <a:cubicBezTo>
                    <a:pt x="-1180" y="32211"/>
                    <a:pt x="-1239" y="21913"/>
                    <a:pt x="3552" y="13539"/>
                  </a:cubicBezTo>
                  <a:cubicBezTo>
                    <a:pt x="8344" y="5166"/>
                    <a:pt x="17252" y="0"/>
                    <a:pt x="26899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85725"/>
              <a:ext cx="263611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4360668" y="-1680217"/>
            <a:ext cx="6850501" cy="5887149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707" y="0"/>
              <a:ext cx="799387" cy="698500"/>
            </a:xfrm>
            <a:custGeom>
              <a:avLst/>
              <a:gdLst/>
              <a:ahLst/>
              <a:cxnLst/>
              <a:rect r="r" b="b" t="t" l="l"/>
              <a:pathLst>
                <a:path h="698500" w="799387">
                  <a:moveTo>
                    <a:pt x="793590" y="370740"/>
                  </a:moveTo>
                  <a:lnTo>
                    <a:pt x="615396" y="677010"/>
                  </a:lnTo>
                  <a:cubicBezTo>
                    <a:pt x="607655" y="690315"/>
                    <a:pt x="593423" y="698500"/>
                    <a:pt x="578030" y="698500"/>
                  </a:cubicBezTo>
                  <a:lnTo>
                    <a:pt x="221356" y="698500"/>
                  </a:lnTo>
                  <a:cubicBezTo>
                    <a:pt x="205963" y="698500"/>
                    <a:pt x="191731" y="690315"/>
                    <a:pt x="183990" y="677010"/>
                  </a:cubicBezTo>
                  <a:lnTo>
                    <a:pt x="5796" y="370740"/>
                  </a:lnTo>
                  <a:cubicBezTo>
                    <a:pt x="-1933" y="357456"/>
                    <a:pt x="-1933" y="341044"/>
                    <a:pt x="5796" y="327760"/>
                  </a:cubicBezTo>
                  <a:lnTo>
                    <a:pt x="183990" y="21490"/>
                  </a:lnTo>
                  <a:cubicBezTo>
                    <a:pt x="191731" y="8185"/>
                    <a:pt x="205963" y="0"/>
                    <a:pt x="221356" y="0"/>
                  </a:cubicBezTo>
                  <a:lnTo>
                    <a:pt x="578030" y="0"/>
                  </a:lnTo>
                  <a:cubicBezTo>
                    <a:pt x="593423" y="0"/>
                    <a:pt x="607655" y="8185"/>
                    <a:pt x="615396" y="21490"/>
                  </a:cubicBezTo>
                  <a:lnTo>
                    <a:pt x="793590" y="327760"/>
                  </a:lnTo>
                  <a:cubicBezTo>
                    <a:pt x="801319" y="341044"/>
                    <a:pt x="801319" y="357456"/>
                    <a:pt x="793590" y="370740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16534" y="5143500"/>
            <a:ext cx="1079591" cy="927773"/>
            <a:chOff x="0" y="0"/>
            <a:chExt cx="812800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5475" y="0"/>
              <a:ext cx="781850" cy="698500"/>
            </a:xfrm>
            <a:custGeom>
              <a:avLst/>
              <a:gdLst/>
              <a:ahLst/>
              <a:cxnLst/>
              <a:rect r="r" b="b" t="t" l="l"/>
              <a:pathLst>
                <a:path h="698500" w="781850">
                  <a:moveTo>
                    <a:pt x="768474" y="398837"/>
                  </a:moveTo>
                  <a:lnTo>
                    <a:pt x="622976" y="648913"/>
                  </a:lnTo>
                  <a:cubicBezTo>
                    <a:pt x="605114" y="679613"/>
                    <a:pt x="572274" y="698500"/>
                    <a:pt x="536756" y="698500"/>
                  </a:cubicBezTo>
                  <a:lnTo>
                    <a:pt x="245094" y="698500"/>
                  </a:lnTo>
                  <a:cubicBezTo>
                    <a:pt x="209576" y="698500"/>
                    <a:pt x="176736" y="679613"/>
                    <a:pt x="158874" y="648913"/>
                  </a:cubicBezTo>
                  <a:lnTo>
                    <a:pt x="13376" y="398837"/>
                  </a:lnTo>
                  <a:cubicBezTo>
                    <a:pt x="-4459" y="368184"/>
                    <a:pt x="-4459" y="330316"/>
                    <a:pt x="13376" y="299663"/>
                  </a:cubicBezTo>
                  <a:lnTo>
                    <a:pt x="158874" y="49587"/>
                  </a:lnTo>
                  <a:cubicBezTo>
                    <a:pt x="176736" y="18887"/>
                    <a:pt x="209576" y="0"/>
                    <a:pt x="245094" y="0"/>
                  </a:cubicBezTo>
                  <a:lnTo>
                    <a:pt x="536756" y="0"/>
                  </a:lnTo>
                  <a:cubicBezTo>
                    <a:pt x="572274" y="0"/>
                    <a:pt x="605114" y="18887"/>
                    <a:pt x="622976" y="49587"/>
                  </a:cubicBezTo>
                  <a:lnTo>
                    <a:pt x="768474" y="299663"/>
                  </a:lnTo>
                  <a:cubicBezTo>
                    <a:pt x="786309" y="330316"/>
                    <a:pt x="786309" y="368184"/>
                    <a:pt x="768474" y="398837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43266" y="5366721"/>
            <a:ext cx="1079591" cy="927773"/>
            <a:chOff x="0" y="0"/>
            <a:chExt cx="812800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5475" y="0"/>
              <a:ext cx="781850" cy="698500"/>
            </a:xfrm>
            <a:custGeom>
              <a:avLst/>
              <a:gdLst/>
              <a:ahLst/>
              <a:cxnLst/>
              <a:rect r="r" b="b" t="t" l="l"/>
              <a:pathLst>
                <a:path h="698500" w="781850">
                  <a:moveTo>
                    <a:pt x="768474" y="398837"/>
                  </a:moveTo>
                  <a:lnTo>
                    <a:pt x="622976" y="648913"/>
                  </a:lnTo>
                  <a:cubicBezTo>
                    <a:pt x="605114" y="679613"/>
                    <a:pt x="572274" y="698500"/>
                    <a:pt x="536756" y="698500"/>
                  </a:cubicBezTo>
                  <a:lnTo>
                    <a:pt x="245094" y="698500"/>
                  </a:lnTo>
                  <a:cubicBezTo>
                    <a:pt x="209576" y="698500"/>
                    <a:pt x="176736" y="679613"/>
                    <a:pt x="158874" y="648913"/>
                  </a:cubicBezTo>
                  <a:lnTo>
                    <a:pt x="13376" y="398837"/>
                  </a:lnTo>
                  <a:cubicBezTo>
                    <a:pt x="-4459" y="368184"/>
                    <a:pt x="-4459" y="330316"/>
                    <a:pt x="13376" y="299663"/>
                  </a:cubicBezTo>
                  <a:lnTo>
                    <a:pt x="158874" y="49587"/>
                  </a:lnTo>
                  <a:cubicBezTo>
                    <a:pt x="176736" y="18887"/>
                    <a:pt x="209576" y="0"/>
                    <a:pt x="245094" y="0"/>
                  </a:cubicBezTo>
                  <a:lnTo>
                    <a:pt x="536756" y="0"/>
                  </a:lnTo>
                  <a:cubicBezTo>
                    <a:pt x="572274" y="0"/>
                    <a:pt x="605114" y="18887"/>
                    <a:pt x="622976" y="49587"/>
                  </a:cubicBezTo>
                  <a:lnTo>
                    <a:pt x="768474" y="299663"/>
                  </a:lnTo>
                  <a:cubicBezTo>
                    <a:pt x="786309" y="330316"/>
                    <a:pt x="786309" y="368184"/>
                    <a:pt x="768474" y="398837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330001" y="-750933"/>
            <a:ext cx="2887031" cy="2540587"/>
          </a:xfrm>
          <a:custGeom>
            <a:avLst/>
            <a:gdLst/>
            <a:ahLst/>
            <a:cxnLst/>
            <a:rect r="r" b="b" t="t" l="l"/>
            <a:pathLst>
              <a:path h="2540587" w="2887031">
                <a:moveTo>
                  <a:pt x="0" y="0"/>
                </a:moveTo>
                <a:lnTo>
                  <a:pt x="2887031" y="0"/>
                </a:lnTo>
                <a:lnTo>
                  <a:pt x="2887031" y="2540588"/>
                </a:lnTo>
                <a:lnTo>
                  <a:pt x="0" y="2540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300043" y="-924877"/>
            <a:ext cx="1606035" cy="2072303"/>
          </a:xfrm>
          <a:custGeom>
            <a:avLst/>
            <a:gdLst/>
            <a:ahLst/>
            <a:cxnLst/>
            <a:rect r="r" b="b" t="t" l="l"/>
            <a:pathLst>
              <a:path h="2072303" w="1606035">
                <a:moveTo>
                  <a:pt x="0" y="0"/>
                </a:moveTo>
                <a:lnTo>
                  <a:pt x="1606036" y="0"/>
                </a:lnTo>
                <a:lnTo>
                  <a:pt x="1606036" y="2072303"/>
                </a:lnTo>
                <a:lnTo>
                  <a:pt x="0" y="20723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09939" y="2003458"/>
            <a:ext cx="496176" cy="491214"/>
          </a:xfrm>
          <a:custGeom>
            <a:avLst/>
            <a:gdLst/>
            <a:ahLst/>
            <a:cxnLst/>
            <a:rect r="r" b="b" t="t" l="l"/>
            <a:pathLst>
              <a:path h="491214" w="496176">
                <a:moveTo>
                  <a:pt x="0" y="0"/>
                </a:moveTo>
                <a:lnTo>
                  <a:pt x="496176" y="0"/>
                </a:lnTo>
                <a:lnTo>
                  <a:pt x="496176" y="491214"/>
                </a:lnTo>
                <a:lnTo>
                  <a:pt x="0" y="4912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5919554" y="-178945"/>
            <a:ext cx="2652289" cy="2884606"/>
          </a:xfrm>
          <a:custGeom>
            <a:avLst/>
            <a:gdLst/>
            <a:ahLst/>
            <a:cxnLst/>
            <a:rect r="r" b="b" t="t" l="l"/>
            <a:pathLst>
              <a:path h="2884606" w="2652289">
                <a:moveTo>
                  <a:pt x="0" y="0"/>
                </a:moveTo>
                <a:lnTo>
                  <a:pt x="2652289" y="0"/>
                </a:lnTo>
                <a:lnTo>
                  <a:pt x="2652289" y="2884606"/>
                </a:lnTo>
                <a:lnTo>
                  <a:pt x="0" y="28846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8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1185" r="-66088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7067519" y="843662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894741" y="1171575"/>
            <a:ext cx="8861217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-419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PERBANDINGAN CONFUSION MATRIX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36620" y="3416992"/>
            <a:ext cx="5495120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846" indent="-217423" lvl="1">
              <a:lnSpc>
                <a:spcPts val="3222"/>
              </a:lnSpc>
              <a:buFont typeface="Arial"/>
              <a:buChar char="•"/>
            </a:pPr>
            <a:r>
              <a:rPr lang="en-US" sz="2014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27/32</a:t>
            </a:r>
            <a:r>
              <a:rPr lang="en-US" sz="2014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 data benar</a:t>
            </a:r>
          </a:p>
          <a:p>
            <a:pPr algn="l" marL="434846" indent="-217423" lvl="1">
              <a:lnSpc>
                <a:spcPts val="3222"/>
              </a:lnSpc>
              <a:buFont typeface="Arial"/>
              <a:buChar char="•"/>
            </a:pPr>
            <a:r>
              <a:rPr lang="en-US" sz="2014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Kesalahan terbanyak pada plastic_bottles</a:t>
            </a:r>
          </a:p>
          <a:p>
            <a:pPr algn="l" marL="434846" indent="-217423" lvl="1">
              <a:lnSpc>
                <a:spcPts val="3222"/>
              </a:lnSpc>
              <a:buFont typeface="Arial"/>
              <a:buChar char="•"/>
            </a:pPr>
            <a:r>
              <a:rPr lang="en-US" sz="2014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wood_waste seluruhnya benar</a:t>
            </a:r>
          </a:p>
          <a:p>
            <a:pPr algn="l">
              <a:lnSpc>
                <a:spcPts val="3222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016390" y="2962181"/>
            <a:ext cx="8051130" cy="36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1900">
                <a:solidFill>
                  <a:srgbClr val="FFFFFF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Po</a:t>
            </a:r>
            <a:r>
              <a:rPr lang="en-US" sz="1900">
                <a:solidFill>
                  <a:srgbClr val="FFFFFF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la Kesalahan Klasifikasi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71500" y="5707087"/>
            <a:ext cx="7033928" cy="126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5734" indent="-232867" lvl="1">
              <a:lnSpc>
                <a:spcPts val="3451"/>
              </a:lnSpc>
              <a:buFont typeface="Arial"/>
              <a:buChar char="•"/>
            </a:pPr>
            <a:r>
              <a:rPr lang="en-US" sz="215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23/32 </a:t>
            </a:r>
            <a:r>
              <a:rPr lang="en-US" sz="215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data benar</a:t>
            </a:r>
          </a:p>
          <a:p>
            <a:pPr algn="l" marL="465734" indent="-232867" lvl="1">
              <a:lnSpc>
                <a:spcPts val="3451"/>
              </a:lnSpc>
              <a:buFont typeface="Arial"/>
              <a:buChar char="•"/>
            </a:pPr>
            <a:r>
              <a:rPr lang="en-US" sz="2157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Kesalahan cukup banyak pada metal_cans dan paper_waste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64051" y="2944753"/>
            <a:ext cx="635233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Skenario</a:t>
            </a:r>
            <a:r>
              <a:rPr lang="en-US" sz="2399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60982" y="5178808"/>
            <a:ext cx="635233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Skenario</a:t>
            </a:r>
            <a:r>
              <a:rPr lang="en-US" sz="2399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36620" y="5423871"/>
            <a:ext cx="639417" cy="42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 spc="-128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63353" y="5647109"/>
            <a:ext cx="639417" cy="42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 spc="-128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02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57030" y="3180621"/>
            <a:ext cx="1079591" cy="927773"/>
            <a:chOff x="0" y="0"/>
            <a:chExt cx="812800" cy="698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5475" y="0"/>
              <a:ext cx="781850" cy="698500"/>
            </a:xfrm>
            <a:custGeom>
              <a:avLst/>
              <a:gdLst/>
              <a:ahLst/>
              <a:cxnLst/>
              <a:rect r="r" b="b" t="t" l="l"/>
              <a:pathLst>
                <a:path h="698500" w="781850">
                  <a:moveTo>
                    <a:pt x="768474" y="398837"/>
                  </a:moveTo>
                  <a:lnTo>
                    <a:pt x="622976" y="648913"/>
                  </a:lnTo>
                  <a:cubicBezTo>
                    <a:pt x="605114" y="679613"/>
                    <a:pt x="572274" y="698500"/>
                    <a:pt x="536756" y="698500"/>
                  </a:cubicBezTo>
                  <a:lnTo>
                    <a:pt x="245094" y="698500"/>
                  </a:lnTo>
                  <a:cubicBezTo>
                    <a:pt x="209576" y="698500"/>
                    <a:pt x="176736" y="679613"/>
                    <a:pt x="158874" y="648913"/>
                  </a:cubicBezTo>
                  <a:lnTo>
                    <a:pt x="13376" y="398837"/>
                  </a:lnTo>
                  <a:cubicBezTo>
                    <a:pt x="-4459" y="368184"/>
                    <a:pt x="-4459" y="330316"/>
                    <a:pt x="13376" y="299663"/>
                  </a:cubicBezTo>
                  <a:lnTo>
                    <a:pt x="158874" y="49587"/>
                  </a:lnTo>
                  <a:cubicBezTo>
                    <a:pt x="176736" y="18887"/>
                    <a:pt x="209576" y="0"/>
                    <a:pt x="245094" y="0"/>
                  </a:cubicBezTo>
                  <a:lnTo>
                    <a:pt x="536756" y="0"/>
                  </a:lnTo>
                  <a:cubicBezTo>
                    <a:pt x="572274" y="0"/>
                    <a:pt x="605114" y="18887"/>
                    <a:pt x="622976" y="49587"/>
                  </a:cubicBezTo>
                  <a:lnTo>
                    <a:pt x="768474" y="299663"/>
                  </a:lnTo>
                  <a:cubicBezTo>
                    <a:pt x="786309" y="330316"/>
                    <a:pt x="786309" y="368184"/>
                    <a:pt x="768474" y="398837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777117" y="3461008"/>
            <a:ext cx="639417" cy="42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 spc="-128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562799" y="4911147"/>
            <a:ext cx="635233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Skenario</a:t>
            </a:r>
            <a:r>
              <a:rPr lang="en-US" sz="2399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511154" y="5379778"/>
            <a:ext cx="5603674" cy="161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436" indent="-221718" lvl="1">
              <a:lnSpc>
                <a:spcPts val="3286"/>
              </a:lnSpc>
              <a:buFont typeface="Arial"/>
              <a:buChar char="•"/>
            </a:pPr>
            <a:r>
              <a:rPr lang="en-US" sz="205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27/32</a:t>
            </a:r>
            <a:r>
              <a:rPr lang="en-US" sz="205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 data benar</a:t>
            </a:r>
          </a:p>
          <a:p>
            <a:pPr algn="l" marL="443436" indent="-221718" lvl="1">
              <a:lnSpc>
                <a:spcPts val="3286"/>
              </a:lnSpc>
              <a:buFont typeface="Arial"/>
              <a:buChar char="•"/>
            </a:pPr>
            <a:r>
              <a:rPr lang="en-US" sz="205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plastic_bottles masih menjadi kelas yang cukup sulit dibedakan</a:t>
            </a:r>
          </a:p>
          <a:p>
            <a:pPr algn="l">
              <a:lnSpc>
                <a:spcPts val="3286"/>
              </a:lnSpc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3562799" y="7378338"/>
            <a:ext cx="1079591" cy="927773"/>
            <a:chOff x="0" y="0"/>
            <a:chExt cx="812800" cy="698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5475" y="0"/>
              <a:ext cx="781850" cy="698500"/>
            </a:xfrm>
            <a:custGeom>
              <a:avLst/>
              <a:gdLst/>
              <a:ahLst/>
              <a:cxnLst/>
              <a:rect r="r" b="b" t="t" l="l"/>
              <a:pathLst>
                <a:path h="698500" w="781850">
                  <a:moveTo>
                    <a:pt x="768474" y="398837"/>
                  </a:moveTo>
                  <a:lnTo>
                    <a:pt x="622976" y="648913"/>
                  </a:lnTo>
                  <a:cubicBezTo>
                    <a:pt x="605114" y="679613"/>
                    <a:pt x="572274" y="698500"/>
                    <a:pt x="536756" y="698500"/>
                  </a:cubicBezTo>
                  <a:lnTo>
                    <a:pt x="245094" y="698500"/>
                  </a:lnTo>
                  <a:cubicBezTo>
                    <a:pt x="209576" y="698500"/>
                    <a:pt x="176736" y="679613"/>
                    <a:pt x="158874" y="648913"/>
                  </a:cubicBezTo>
                  <a:lnTo>
                    <a:pt x="13376" y="398837"/>
                  </a:lnTo>
                  <a:cubicBezTo>
                    <a:pt x="-4459" y="368184"/>
                    <a:pt x="-4459" y="330316"/>
                    <a:pt x="13376" y="299663"/>
                  </a:cubicBezTo>
                  <a:lnTo>
                    <a:pt x="158874" y="49587"/>
                  </a:lnTo>
                  <a:cubicBezTo>
                    <a:pt x="176736" y="18887"/>
                    <a:pt x="209576" y="0"/>
                    <a:pt x="245094" y="0"/>
                  </a:cubicBezTo>
                  <a:lnTo>
                    <a:pt x="536756" y="0"/>
                  </a:lnTo>
                  <a:cubicBezTo>
                    <a:pt x="572274" y="0"/>
                    <a:pt x="605114" y="18887"/>
                    <a:pt x="622976" y="49587"/>
                  </a:cubicBezTo>
                  <a:lnTo>
                    <a:pt x="768474" y="299663"/>
                  </a:lnTo>
                  <a:cubicBezTo>
                    <a:pt x="786309" y="330316"/>
                    <a:pt x="786309" y="368184"/>
                    <a:pt x="768474" y="398837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782886" y="7658709"/>
            <a:ext cx="639417" cy="42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 spc="-128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772881" y="7142453"/>
            <a:ext cx="349321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Skenario 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642390" y="7657761"/>
            <a:ext cx="5603674" cy="244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436" indent="-221718" lvl="1">
              <a:lnSpc>
                <a:spcPts val="3286"/>
              </a:lnSpc>
              <a:buFont typeface="Arial"/>
              <a:buChar char="•"/>
            </a:pPr>
            <a:r>
              <a:rPr lang="en-US" sz="205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28/32</a:t>
            </a:r>
            <a:r>
              <a:rPr lang="en-US" sz="205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 data benar</a:t>
            </a:r>
          </a:p>
          <a:p>
            <a:pPr algn="l" marL="443436" indent="-221718" lvl="1">
              <a:lnSpc>
                <a:spcPts val="3286"/>
              </a:lnSpc>
              <a:buFont typeface="Arial"/>
              <a:buChar char="•"/>
            </a:pPr>
            <a:r>
              <a:rPr lang="en-US" sz="205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Kesa</a:t>
            </a:r>
            <a:r>
              <a:rPr lang="en-US" sz="205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lahan berkurang dibandingkan Skenario 2</a:t>
            </a:r>
          </a:p>
          <a:p>
            <a:pPr algn="l" marL="443436" indent="-221718" lvl="1">
              <a:lnSpc>
                <a:spcPts val="3286"/>
              </a:lnSpc>
              <a:buFont typeface="Arial"/>
              <a:buChar char="•"/>
            </a:pPr>
            <a:r>
              <a:rPr lang="en-US" sz="205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metal_cans dan wood_waste berhasil diklasifikasikan dengan baik</a:t>
            </a:r>
          </a:p>
          <a:p>
            <a:pPr algn="l">
              <a:lnSpc>
                <a:spcPts val="328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3608516">
            <a:off x="10753144" y="-1328175"/>
            <a:ext cx="3669196" cy="2366702"/>
            <a:chOff x="0" y="0"/>
            <a:chExt cx="543818" cy="3507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8602" y="0"/>
              <a:ext cx="486613" cy="350773"/>
            </a:xfrm>
            <a:custGeom>
              <a:avLst/>
              <a:gdLst/>
              <a:ahLst/>
              <a:cxnLst/>
              <a:rect r="r" b="b" t="t" l="l"/>
              <a:pathLst>
                <a:path h="350773" w="486613">
                  <a:moveTo>
                    <a:pt x="244496" y="0"/>
                  </a:moveTo>
                  <a:lnTo>
                    <a:pt x="38917" y="0"/>
                  </a:lnTo>
                  <a:cubicBezTo>
                    <a:pt x="25004" y="0"/>
                    <a:pt x="12148" y="7428"/>
                    <a:pt x="5200" y="19483"/>
                  </a:cubicBezTo>
                  <a:cubicBezTo>
                    <a:pt x="-1748" y="31538"/>
                    <a:pt x="-1732" y="46385"/>
                    <a:pt x="5243" y="58424"/>
                  </a:cubicBezTo>
                  <a:lnTo>
                    <a:pt x="140753" y="292349"/>
                  </a:lnTo>
                  <a:cubicBezTo>
                    <a:pt x="161701" y="328510"/>
                    <a:pt x="200327" y="350773"/>
                    <a:pt x="242117" y="350773"/>
                  </a:cubicBezTo>
                  <a:lnTo>
                    <a:pt x="447696" y="350773"/>
                  </a:lnTo>
                  <a:cubicBezTo>
                    <a:pt x="461610" y="350773"/>
                    <a:pt x="474466" y="343345"/>
                    <a:pt x="481414" y="331290"/>
                  </a:cubicBezTo>
                  <a:cubicBezTo>
                    <a:pt x="488362" y="319235"/>
                    <a:pt x="488345" y="304388"/>
                    <a:pt x="481371" y="292349"/>
                  </a:cubicBezTo>
                  <a:lnTo>
                    <a:pt x="345860" y="58424"/>
                  </a:lnTo>
                  <a:cubicBezTo>
                    <a:pt x="324913" y="22263"/>
                    <a:pt x="286287" y="0"/>
                    <a:pt x="24449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85725"/>
              <a:ext cx="340618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49450" y="8760916"/>
            <a:ext cx="3965520" cy="2013887"/>
          </a:xfrm>
          <a:custGeom>
            <a:avLst/>
            <a:gdLst/>
            <a:ahLst/>
            <a:cxnLst/>
            <a:rect r="r" b="b" t="t" l="l"/>
            <a:pathLst>
              <a:path h="2013887" w="3965520">
                <a:moveTo>
                  <a:pt x="0" y="0"/>
                </a:moveTo>
                <a:lnTo>
                  <a:pt x="3965520" y="0"/>
                </a:lnTo>
                <a:lnTo>
                  <a:pt x="3965520" y="2013887"/>
                </a:lnTo>
                <a:lnTo>
                  <a:pt x="0" y="2013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6965" b="-142059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7" id="7"/>
          <p:cNvGrpSpPr/>
          <p:nvPr/>
        </p:nvGrpSpPr>
        <p:grpSpPr>
          <a:xfrm rot="0">
            <a:off x="11957560" y="-841322"/>
            <a:ext cx="7606870" cy="9862360"/>
            <a:chOff x="0" y="0"/>
            <a:chExt cx="533385" cy="6915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78" y="0"/>
              <a:ext cx="517714" cy="691537"/>
            </a:xfrm>
            <a:custGeom>
              <a:avLst/>
              <a:gdLst/>
              <a:ahLst/>
              <a:cxnLst/>
              <a:rect r="r" b="b" t="t" l="l"/>
              <a:pathLst>
                <a:path h="691537" w="517714">
                  <a:moveTo>
                    <a:pt x="12813" y="0"/>
                  </a:moveTo>
                  <a:lnTo>
                    <a:pt x="298216" y="0"/>
                  </a:lnTo>
                  <a:cubicBezTo>
                    <a:pt x="312088" y="0"/>
                    <a:pt x="324923" y="7344"/>
                    <a:pt x="331951" y="19304"/>
                  </a:cubicBezTo>
                  <a:lnTo>
                    <a:pt x="512462" y="326465"/>
                  </a:lnTo>
                  <a:cubicBezTo>
                    <a:pt x="519465" y="338381"/>
                    <a:pt x="519465" y="353156"/>
                    <a:pt x="512462" y="365072"/>
                  </a:cubicBezTo>
                  <a:lnTo>
                    <a:pt x="331951" y="672233"/>
                  </a:lnTo>
                  <a:cubicBezTo>
                    <a:pt x="324923" y="684192"/>
                    <a:pt x="312088" y="691537"/>
                    <a:pt x="298216" y="691537"/>
                  </a:cubicBezTo>
                  <a:lnTo>
                    <a:pt x="12813" y="691537"/>
                  </a:lnTo>
                  <a:cubicBezTo>
                    <a:pt x="8218" y="691537"/>
                    <a:pt x="3974" y="689076"/>
                    <a:pt x="1692" y="685088"/>
                  </a:cubicBezTo>
                  <a:cubicBezTo>
                    <a:pt x="-590" y="681100"/>
                    <a:pt x="-562" y="676195"/>
                    <a:pt x="1766" y="672233"/>
                  </a:cubicBezTo>
                  <a:lnTo>
                    <a:pt x="182278" y="365072"/>
                  </a:lnTo>
                  <a:cubicBezTo>
                    <a:pt x="189281" y="353156"/>
                    <a:pt x="189281" y="338381"/>
                    <a:pt x="182278" y="326465"/>
                  </a:cubicBezTo>
                  <a:lnTo>
                    <a:pt x="1766" y="19304"/>
                  </a:lnTo>
                  <a:cubicBezTo>
                    <a:pt x="-562" y="15342"/>
                    <a:pt x="-590" y="10437"/>
                    <a:pt x="1692" y="6449"/>
                  </a:cubicBezTo>
                  <a:cubicBezTo>
                    <a:pt x="3974" y="2461"/>
                    <a:pt x="8218" y="0"/>
                    <a:pt x="12813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85725"/>
              <a:ext cx="279385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0191802" y="2431709"/>
            <a:ext cx="3933216" cy="5125166"/>
            <a:chOff x="0" y="0"/>
            <a:chExt cx="530707" cy="6915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8524" y="0"/>
              <a:ext cx="500401" cy="691537"/>
            </a:xfrm>
            <a:custGeom>
              <a:avLst/>
              <a:gdLst/>
              <a:ahLst/>
              <a:cxnLst/>
              <a:rect r="r" b="b" t="t" l="l"/>
              <a:pathLst>
                <a:path h="691537" w="500401">
                  <a:moveTo>
                    <a:pt x="24780" y="0"/>
                  </a:moveTo>
                  <a:lnTo>
                    <a:pt x="265680" y="0"/>
                  </a:lnTo>
                  <a:cubicBezTo>
                    <a:pt x="292508" y="0"/>
                    <a:pt x="317331" y="14204"/>
                    <a:pt x="330924" y="37334"/>
                  </a:cubicBezTo>
                  <a:lnTo>
                    <a:pt x="490243" y="308434"/>
                  </a:lnTo>
                  <a:cubicBezTo>
                    <a:pt x="503787" y="331481"/>
                    <a:pt x="503787" y="360056"/>
                    <a:pt x="490243" y="383102"/>
                  </a:cubicBezTo>
                  <a:lnTo>
                    <a:pt x="330924" y="654203"/>
                  </a:lnTo>
                  <a:cubicBezTo>
                    <a:pt x="317331" y="677333"/>
                    <a:pt x="292508" y="691537"/>
                    <a:pt x="265680" y="691537"/>
                  </a:cubicBezTo>
                  <a:lnTo>
                    <a:pt x="24780" y="691537"/>
                  </a:lnTo>
                  <a:cubicBezTo>
                    <a:pt x="15893" y="691537"/>
                    <a:pt x="7686" y="686778"/>
                    <a:pt x="3273" y="679064"/>
                  </a:cubicBezTo>
                  <a:cubicBezTo>
                    <a:pt x="-1141" y="671351"/>
                    <a:pt x="-1086" y="661865"/>
                    <a:pt x="3416" y="654203"/>
                  </a:cubicBezTo>
                  <a:lnTo>
                    <a:pt x="162736" y="383102"/>
                  </a:lnTo>
                  <a:cubicBezTo>
                    <a:pt x="176280" y="360056"/>
                    <a:pt x="176280" y="331481"/>
                    <a:pt x="162736" y="308434"/>
                  </a:cubicBezTo>
                  <a:lnTo>
                    <a:pt x="3416" y="37334"/>
                  </a:lnTo>
                  <a:cubicBezTo>
                    <a:pt x="-1086" y="29672"/>
                    <a:pt x="-1141" y="20186"/>
                    <a:pt x="3273" y="12472"/>
                  </a:cubicBezTo>
                  <a:cubicBezTo>
                    <a:pt x="7686" y="4759"/>
                    <a:pt x="15893" y="0"/>
                    <a:pt x="24780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85725"/>
              <a:ext cx="276707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095844" y="3503204"/>
            <a:ext cx="6192156" cy="5689043"/>
          </a:xfrm>
          <a:custGeom>
            <a:avLst/>
            <a:gdLst/>
            <a:ahLst/>
            <a:cxnLst/>
            <a:rect r="r" b="b" t="t" l="l"/>
            <a:pathLst>
              <a:path h="5689043" w="6192156">
                <a:moveTo>
                  <a:pt x="0" y="0"/>
                </a:moveTo>
                <a:lnTo>
                  <a:pt x="6192156" y="0"/>
                </a:lnTo>
                <a:lnTo>
                  <a:pt x="6192156" y="5689043"/>
                </a:lnTo>
                <a:lnTo>
                  <a:pt x="0" y="5689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10668000" y="1859706"/>
            <a:ext cx="7295036" cy="6269172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298" y="0"/>
              <a:ext cx="800204" cy="698500"/>
            </a:xfrm>
            <a:custGeom>
              <a:avLst/>
              <a:gdLst/>
              <a:ahLst/>
              <a:cxnLst/>
              <a:rect r="r" b="b" t="t" l="l"/>
              <a:pathLst>
                <a:path h="698500" w="800204">
                  <a:moveTo>
                    <a:pt x="794761" y="369431"/>
                  </a:moveTo>
                  <a:lnTo>
                    <a:pt x="615043" y="678319"/>
                  </a:lnTo>
                  <a:cubicBezTo>
                    <a:pt x="607774" y="690814"/>
                    <a:pt x="594409" y="698500"/>
                    <a:pt x="579954" y="698500"/>
                  </a:cubicBezTo>
                  <a:lnTo>
                    <a:pt x="220250" y="698500"/>
                  </a:lnTo>
                  <a:cubicBezTo>
                    <a:pt x="205795" y="698500"/>
                    <a:pt x="192430" y="690814"/>
                    <a:pt x="185161" y="678319"/>
                  </a:cubicBezTo>
                  <a:lnTo>
                    <a:pt x="5443" y="369431"/>
                  </a:lnTo>
                  <a:cubicBezTo>
                    <a:pt x="-1815" y="356956"/>
                    <a:pt x="-1815" y="341544"/>
                    <a:pt x="5443" y="329069"/>
                  </a:cubicBezTo>
                  <a:lnTo>
                    <a:pt x="185161" y="20181"/>
                  </a:lnTo>
                  <a:cubicBezTo>
                    <a:pt x="192430" y="7686"/>
                    <a:pt x="205795" y="0"/>
                    <a:pt x="220250" y="0"/>
                  </a:cubicBezTo>
                  <a:lnTo>
                    <a:pt x="579954" y="0"/>
                  </a:lnTo>
                  <a:cubicBezTo>
                    <a:pt x="594409" y="0"/>
                    <a:pt x="607774" y="7686"/>
                    <a:pt x="615043" y="20181"/>
                  </a:cubicBezTo>
                  <a:lnTo>
                    <a:pt x="794761" y="329069"/>
                  </a:lnTo>
                  <a:cubicBezTo>
                    <a:pt x="802019" y="341544"/>
                    <a:pt x="802019" y="356956"/>
                    <a:pt x="794761" y="369431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97595" y="2228889"/>
            <a:ext cx="6435847" cy="5530806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7139" y="0"/>
              <a:ext cx="798523" cy="698500"/>
            </a:xfrm>
            <a:custGeom>
              <a:avLst/>
              <a:gdLst/>
              <a:ahLst/>
              <a:cxnLst/>
              <a:rect r="r" b="b" t="t" l="l"/>
              <a:pathLst>
                <a:path h="698500" w="798523">
                  <a:moveTo>
                    <a:pt x="792352" y="372125"/>
                  </a:moveTo>
                  <a:lnTo>
                    <a:pt x="615770" y="675625"/>
                  </a:lnTo>
                  <a:cubicBezTo>
                    <a:pt x="607530" y="689788"/>
                    <a:pt x="592381" y="698500"/>
                    <a:pt x="575996" y="698500"/>
                  </a:cubicBezTo>
                  <a:lnTo>
                    <a:pt x="222526" y="698500"/>
                  </a:lnTo>
                  <a:cubicBezTo>
                    <a:pt x="206141" y="698500"/>
                    <a:pt x="190992" y="689788"/>
                    <a:pt x="182752" y="675625"/>
                  </a:cubicBezTo>
                  <a:lnTo>
                    <a:pt x="6170" y="372125"/>
                  </a:lnTo>
                  <a:cubicBezTo>
                    <a:pt x="-2057" y="357984"/>
                    <a:pt x="-2057" y="340516"/>
                    <a:pt x="6170" y="326375"/>
                  </a:cubicBezTo>
                  <a:lnTo>
                    <a:pt x="182752" y="22875"/>
                  </a:lnTo>
                  <a:cubicBezTo>
                    <a:pt x="190992" y="8712"/>
                    <a:pt x="206141" y="0"/>
                    <a:pt x="222526" y="0"/>
                  </a:cubicBezTo>
                  <a:lnTo>
                    <a:pt x="575996" y="0"/>
                  </a:lnTo>
                  <a:cubicBezTo>
                    <a:pt x="592381" y="0"/>
                    <a:pt x="607530" y="8712"/>
                    <a:pt x="615770" y="22875"/>
                  </a:cubicBezTo>
                  <a:lnTo>
                    <a:pt x="792352" y="326375"/>
                  </a:lnTo>
                  <a:cubicBezTo>
                    <a:pt x="800579" y="340516"/>
                    <a:pt x="800579" y="357984"/>
                    <a:pt x="792352" y="372125"/>
                  </a:cubicBezTo>
                  <a:close/>
                </a:path>
              </a:pathLst>
            </a:custGeom>
            <a:blipFill>
              <a:blip r:embed="rId7"/>
              <a:stretch>
                <a:fillRect l="-15523" t="0" r="-15523" b="0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212168" y="9981318"/>
            <a:ext cx="5438931" cy="1121747"/>
            <a:chOff x="0" y="0"/>
            <a:chExt cx="1700767" cy="3507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3266" y="0"/>
              <a:ext cx="1674236" cy="350773"/>
            </a:xfrm>
            <a:custGeom>
              <a:avLst/>
              <a:gdLst/>
              <a:ahLst/>
              <a:cxnLst/>
              <a:rect r="r" b="b" t="t" l="l"/>
              <a:pathLst>
                <a:path h="350773" w="1674236">
                  <a:moveTo>
                    <a:pt x="1452986" y="0"/>
                  </a:moveTo>
                  <a:lnTo>
                    <a:pt x="18049" y="0"/>
                  </a:lnTo>
                  <a:cubicBezTo>
                    <a:pt x="11596" y="0"/>
                    <a:pt x="5634" y="3445"/>
                    <a:pt x="2411" y="9036"/>
                  </a:cubicBezTo>
                  <a:cubicBezTo>
                    <a:pt x="-811" y="14627"/>
                    <a:pt x="-804" y="21513"/>
                    <a:pt x="2431" y="27097"/>
                  </a:cubicBezTo>
                  <a:lnTo>
                    <a:pt x="174237" y="323676"/>
                  </a:lnTo>
                  <a:cubicBezTo>
                    <a:pt x="183952" y="340447"/>
                    <a:pt x="201867" y="350773"/>
                    <a:pt x="221249" y="350773"/>
                  </a:cubicBezTo>
                  <a:lnTo>
                    <a:pt x="1656186" y="350773"/>
                  </a:lnTo>
                  <a:cubicBezTo>
                    <a:pt x="1662639" y="350773"/>
                    <a:pt x="1668601" y="347328"/>
                    <a:pt x="1671824" y="341737"/>
                  </a:cubicBezTo>
                  <a:cubicBezTo>
                    <a:pt x="1675046" y="336146"/>
                    <a:pt x="1675039" y="329260"/>
                    <a:pt x="1671804" y="323676"/>
                  </a:cubicBezTo>
                  <a:lnTo>
                    <a:pt x="1499998" y="27097"/>
                  </a:lnTo>
                  <a:cubicBezTo>
                    <a:pt x="1490283" y="10326"/>
                    <a:pt x="1472368" y="0"/>
                    <a:pt x="1452986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85725"/>
              <a:ext cx="1497567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2962371" y="74188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-2064034" y="9726127"/>
            <a:ext cx="5438931" cy="1121747"/>
            <a:chOff x="0" y="0"/>
            <a:chExt cx="1700767" cy="3507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3266" y="0"/>
              <a:ext cx="1674236" cy="350773"/>
            </a:xfrm>
            <a:custGeom>
              <a:avLst/>
              <a:gdLst/>
              <a:ahLst/>
              <a:cxnLst/>
              <a:rect r="r" b="b" t="t" l="l"/>
              <a:pathLst>
                <a:path h="350773" w="1674236">
                  <a:moveTo>
                    <a:pt x="1452986" y="0"/>
                  </a:moveTo>
                  <a:lnTo>
                    <a:pt x="18049" y="0"/>
                  </a:lnTo>
                  <a:cubicBezTo>
                    <a:pt x="11596" y="0"/>
                    <a:pt x="5634" y="3445"/>
                    <a:pt x="2411" y="9036"/>
                  </a:cubicBezTo>
                  <a:cubicBezTo>
                    <a:pt x="-811" y="14627"/>
                    <a:pt x="-804" y="21513"/>
                    <a:pt x="2431" y="27097"/>
                  </a:cubicBezTo>
                  <a:lnTo>
                    <a:pt x="174237" y="323676"/>
                  </a:lnTo>
                  <a:cubicBezTo>
                    <a:pt x="183952" y="340447"/>
                    <a:pt x="201867" y="350773"/>
                    <a:pt x="221249" y="350773"/>
                  </a:cubicBezTo>
                  <a:lnTo>
                    <a:pt x="1656186" y="350773"/>
                  </a:lnTo>
                  <a:cubicBezTo>
                    <a:pt x="1662639" y="350773"/>
                    <a:pt x="1668601" y="347328"/>
                    <a:pt x="1671824" y="341737"/>
                  </a:cubicBezTo>
                  <a:cubicBezTo>
                    <a:pt x="1675046" y="336146"/>
                    <a:pt x="1675039" y="329260"/>
                    <a:pt x="1671804" y="323676"/>
                  </a:cubicBezTo>
                  <a:lnTo>
                    <a:pt x="1499998" y="27097"/>
                  </a:lnTo>
                  <a:cubicBezTo>
                    <a:pt x="1490283" y="10326"/>
                    <a:pt x="1472368" y="0"/>
                    <a:pt x="145298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85725"/>
              <a:ext cx="1497567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3400424" y="0"/>
            <a:ext cx="6108877" cy="1384761"/>
            <a:chOff x="0" y="0"/>
            <a:chExt cx="1541443" cy="3494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7225" y="0"/>
              <a:ext cx="1506993" cy="349414"/>
            </a:xfrm>
            <a:custGeom>
              <a:avLst/>
              <a:gdLst/>
              <a:ahLst/>
              <a:cxnLst/>
              <a:rect r="r" b="b" t="t" l="l"/>
              <a:pathLst>
                <a:path h="349414" w="1506993">
                  <a:moveTo>
                    <a:pt x="226529" y="0"/>
                  </a:moveTo>
                  <a:lnTo>
                    <a:pt x="1483664" y="0"/>
                  </a:lnTo>
                  <a:cubicBezTo>
                    <a:pt x="1492011" y="0"/>
                    <a:pt x="1499723" y="4460"/>
                    <a:pt x="1503886" y="11696"/>
                  </a:cubicBezTo>
                  <a:cubicBezTo>
                    <a:pt x="1508048" y="18932"/>
                    <a:pt x="1508027" y="27841"/>
                    <a:pt x="1503831" y="35057"/>
                  </a:cubicBezTo>
                  <a:lnTo>
                    <a:pt x="1341405" y="314357"/>
                  </a:lnTo>
                  <a:cubicBezTo>
                    <a:pt x="1328783" y="336061"/>
                    <a:pt x="1305571" y="349414"/>
                    <a:pt x="1280464" y="349414"/>
                  </a:cubicBezTo>
                  <a:lnTo>
                    <a:pt x="23329" y="349414"/>
                  </a:lnTo>
                  <a:cubicBezTo>
                    <a:pt x="14982" y="349414"/>
                    <a:pt x="7270" y="344954"/>
                    <a:pt x="3107" y="337718"/>
                  </a:cubicBezTo>
                  <a:cubicBezTo>
                    <a:pt x="-1055" y="330482"/>
                    <a:pt x="-1034" y="321573"/>
                    <a:pt x="3162" y="314357"/>
                  </a:cubicBezTo>
                  <a:lnTo>
                    <a:pt x="165588" y="35057"/>
                  </a:lnTo>
                  <a:cubicBezTo>
                    <a:pt x="178210" y="13353"/>
                    <a:pt x="201422" y="0"/>
                    <a:pt x="226529" y="0"/>
                  </a:cubicBezTo>
                  <a:close/>
                </a:path>
              </a:pathLst>
            </a:custGeom>
            <a:solidFill>
              <a:srgbClr val="ECEDEE">
                <a:alpha val="5098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-85725"/>
              <a:ext cx="1338243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345985" y="-1512929"/>
            <a:ext cx="4348683" cy="1969319"/>
            <a:chOff x="0" y="0"/>
            <a:chExt cx="1527063" cy="6915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4370" y="0"/>
              <a:ext cx="1487192" cy="691537"/>
            </a:xfrm>
            <a:custGeom>
              <a:avLst/>
              <a:gdLst/>
              <a:ahLst/>
              <a:cxnLst/>
              <a:rect r="r" b="b" t="t" l="l"/>
              <a:pathLst>
                <a:path h="691537" w="1487192">
                  <a:moveTo>
                    <a:pt x="32599" y="0"/>
                  </a:moveTo>
                  <a:lnTo>
                    <a:pt x="1242524" y="0"/>
                  </a:lnTo>
                  <a:cubicBezTo>
                    <a:pt x="1277818" y="0"/>
                    <a:pt x="1310475" y="18687"/>
                    <a:pt x="1328357" y="49116"/>
                  </a:cubicBezTo>
                  <a:lnTo>
                    <a:pt x="1473829" y="296653"/>
                  </a:lnTo>
                  <a:cubicBezTo>
                    <a:pt x="1491647" y="326972"/>
                    <a:pt x="1491647" y="364564"/>
                    <a:pt x="1473829" y="394884"/>
                  </a:cubicBezTo>
                  <a:lnTo>
                    <a:pt x="1328357" y="642421"/>
                  </a:lnTo>
                  <a:cubicBezTo>
                    <a:pt x="1310475" y="672850"/>
                    <a:pt x="1277818" y="691537"/>
                    <a:pt x="1242524" y="691537"/>
                  </a:cubicBezTo>
                  <a:lnTo>
                    <a:pt x="32599" y="691537"/>
                  </a:lnTo>
                  <a:cubicBezTo>
                    <a:pt x="20908" y="691537"/>
                    <a:pt x="10112" y="685276"/>
                    <a:pt x="4305" y="675128"/>
                  </a:cubicBezTo>
                  <a:cubicBezTo>
                    <a:pt x="-1502" y="664981"/>
                    <a:pt x="-1429" y="652501"/>
                    <a:pt x="4494" y="642421"/>
                  </a:cubicBezTo>
                  <a:lnTo>
                    <a:pt x="149966" y="394884"/>
                  </a:lnTo>
                  <a:cubicBezTo>
                    <a:pt x="167784" y="364564"/>
                    <a:pt x="167784" y="326972"/>
                    <a:pt x="149966" y="296653"/>
                  </a:cubicBezTo>
                  <a:lnTo>
                    <a:pt x="4494" y="49116"/>
                  </a:lnTo>
                  <a:cubicBezTo>
                    <a:pt x="-1429" y="39036"/>
                    <a:pt x="-1502" y="26556"/>
                    <a:pt x="4305" y="16408"/>
                  </a:cubicBezTo>
                  <a:cubicBezTo>
                    <a:pt x="10112" y="6261"/>
                    <a:pt x="20908" y="0"/>
                    <a:pt x="32599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77800" y="-85725"/>
              <a:ext cx="1273063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633714" y="1859706"/>
            <a:ext cx="776385" cy="768621"/>
          </a:xfrm>
          <a:custGeom>
            <a:avLst/>
            <a:gdLst/>
            <a:ahLst/>
            <a:cxnLst/>
            <a:rect r="r" b="b" t="t" l="l"/>
            <a:pathLst>
              <a:path h="768621" w="776385">
                <a:moveTo>
                  <a:pt x="0" y="0"/>
                </a:moveTo>
                <a:lnTo>
                  <a:pt x="776385" y="0"/>
                </a:lnTo>
                <a:lnTo>
                  <a:pt x="776385" y="768621"/>
                </a:lnTo>
                <a:lnTo>
                  <a:pt x="0" y="7686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2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3598800">
            <a:off x="12798444" y="-119032"/>
            <a:ext cx="910649" cy="910649"/>
          </a:xfrm>
          <a:custGeom>
            <a:avLst/>
            <a:gdLst/>
            <a:ahLst/>
            <a:cxnLst/>
            <a:rect r="r" b="b" t="t" l="l"/>
            <a:pathLst>
              <a:path h="910649" w="910649">
                <a:moveTo>
                  <a:pt x="0" y="0"/>
                </a:moveTo>
                <a:lnTo>
                  <a:pt x="910649" y="0"/>
                </a:lnTo>
                <a:lnTo>
                  <a:pt x="910649" y="910649"/>
                </a:lnTo>
                <a:lnTo>
                  <a:pt x="0" y="9106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604869" y="-528269"/>
            <a:ext cx="4028845" cy="2549296"/>
          </a:xfrm>
          <a:custGeom>
            <a:avLst/>
            <a:gdLst/>
            <a:ahLst/>
            <a:cxnLst/>
            <a:rect r="r" b="b" t="t" l="l"/>
            <a:pathLst>
              <a:path h="2549296" w="4028845">
                <a:moveTo>
                  <a:pt x="0" y="0"/>
                </a:moveTo>
                <a:lnTo>
                  <a:pt x="4028845" y="0"/>
                </a:lnTo>
                <a:lnTo>
                  <a:pt x="4028845" y="2549296"/>
                </a:lnTo>
                <a:lnTo>
                  <a:pt x="0" y="2549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8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80872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51784" t="-261457" r="-92831" b="-825712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52429" y="870204"/>
            <a:ext cx="12293673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spc="-384">
                <a:solidFill>
                  <a:srgbClr val="1C1C1C"/>
                </a:solidFill>
                <a:latin typeface="Helvetica Now"/>
                <a:ea typeface="Helvetica Now"/>
                <a:cs typeface="Helvetica Now"/>
                <a:sym typeface="Helvetica Now"/>
              </a:rPr>
              <a:t>PERBANDINGAN KINERJA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2429" y="1773981"/>
            <a:ext cx="10269704" cy="407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sz="254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Perbandingan 4 Sk</a:t>
            </a:r>
            <a:r>
              <a:rPr lang="en-US" sz="254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enario</a:t>
            </a:r>
          </a:p>
          <a:p>
            <a:pPr algn="l">
              <a:lnSpc>
                <a:spcPts val="4066"/>
              </a:lnSpc>
            </a:pPr>
            <a:r>
              <a:rPr lang="en-US" sz="254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Masukkan grafik perbandingan Accuracy, Precision, Recall, dan F1-Score dari laporan.</a:t>
            </a:r>
          </a:p>
          <a:p>
            <a:pPr algn="l">
              <a:lnSpc>
                <a:spcPts val="4066"/>
              </a:lnSpc>
            </a:pPr>
            <a:r>
              <a:rPr lang="en-US" sz="2541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Poin yang disampaikan:</a:t>
            </a:r>
          </a:p>
          <a:p>
            <a:pPr algn="l" marL="548777" indent="-274388" lvl="1">
              <a:lnSpc>
                <a:spcPts val="4066"/>
              </a:lnSpc>
              <a:buFont typeface="Arial"/>
              <a:buChar char="•"/>
            </a:pPr>
            <a:r>
              <a:rPr lang="en-US" sz="254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Skenario 1 dan 2 memiliki accuracy yang sama: 84,38%</a:t>
            </a:r>
          </a:p>
          <a:p>
            <a:pPr algn="l" marL="548777" indent="-274388" lvl="1">
              <a:lnSpc>
                <a:spcPts val="4066"/>
              </a:lnSpc>
              <a:buFont typeface="Arial"/>
              <a:buChar char="•"/>
            </a:pPr>
            <a:r>
              <a:rPr lang="en-US" sz="254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Augmentation saja belum meningkatkan accuracy.</a:t>
            </a:r>
          </a:p>
          <a:p>
            <a:pPr algn="l" marL="548777" indent="-274388" lvl="1">
              <a:lnSpc>
                <a:spcPts val="4066"/>
              </a:lnSpc>
              <a:buFont typeface="Arial"/>
              <a:buChar char="•"/>
            </a:pPr>
            <a:r>
              <a:rPr lang="en-US" sz="254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Skenario 3 meningkatkan seluruh metrik utama.</a:t>
            </a:r>
          </a:p>
          <a:p>
            <a:pPr algn="l" marL="548777" indent="-274388" lvl="1">
              <a:lnSpc>
                <a:spcPts val="4066"/>
              </a:lnSpc>
              <a:buFont typeface="Arial"/>
              <a:buChar char="•"/>
            </a:pPr>
            <a:r>
              <a:rPr lang="en-US" sz="2541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Skenario 4 mengalami penurunan performa.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4422" y="6035882"/>
            <a:ext cx="9027380" cy="390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1"/>
              </a:lnSpc>
            </a:pPr>
            <a:r>
              <a:rPr lang="en-US" sz="2444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Hasil</a:t>
            </a:r>
            <a:r>
              <a:rPr lang="en-US" sz="2444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terbaik pada eksperimen terdapat pada konfigurasi:</a:t>
            </a:r>
          </a:p>
          <a:p>
            <a:pPr algn="l">
              <a:lnSpc>
                <a:spcPts val="3911"/>
              </a:lnSpc>
            </a:pPr>
            <a:r>
              <a:rPr lang="en-US" sz="2444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Augmentation + Dropout 0,4</a:t>
            </a:r>
          </a:p>
          <a:p>
            <a:pPr algn="l">
              <a:lnSpc>
                <a:spcPts val="3911"/>
              </a:lnSpc>
            </a:pPr>
            <a:r>
              <a:rPr lang="en-US" sz="2444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D</a:t>
            </a:r>
            <a:r>
              <a:rPr lang="en-US" sz="2444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engan:</a:t>
            </a:r>
          </a:p>
          <a:p>
            <a:pPr algn="l" marL="527801" indent="-263901" lvl="1">
              <a:lnSpc>
                <a:spcPts val="3911"/>
              </a:lnSpc>
              <a:buFont typeface="Arial"/>
              <a:buChar char="•"/>
            </a:pPr>
            <a:r>
              <a:rPr lang="en-US" sz="2444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Accuracy: 87,50%</a:t>
            </a:r>
          </a:p>
          <a:p>
            <a:pPr algn="l" marL="527801" indent="-263901" lvl="1">
              <a:lnSpc>
                <a:spcPts val="3911"/>
              </a:lnSpc>
              <a:buFont typeface="Arial"/>
              <a:buChar char="•"/>
            </a:pPr>
            <a:r>
              <a:rPr lang="en-US" sz="2444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Precision: 90,06%</a:t>
            </a:r>
          </a:p>
          <a:p>
            <a:pPr algn="l" marL="527801" indent="-263901" lvl="1">
              <a:lnSpc>
                <a:spcPts val="3911"/>
              </a:lnSpc>
              <a:buFont typeface="Arial"/>
              <a:buChar char="•"/>
            </a:pPr>
            <a:r>
              <a:rPr lang="en-US" sz="2444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Recall: 87,50%</a:t>
            </a:r>
          </a:p>
          <a:p>
            <a:pPr algn="l" marL="527801" indent="-263901" lvl="1">
              <a:lnSpc>
                <a:spcPts val="3911"/>
              </a:lnSpc>
              <a:buFont typeface="Arial"/>
              <a:buChar char="•"/>
            </a:pPr>
            <a:r>
              <a:rPr lang="en-US" sz="2444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F1-Score: 87,16%</a:t>
            </a:r>
          </a:p>
          <a:p>
            <a:pPr algn="l">
              <a:lnSpc>
                <a:spcPts val="391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3608516">
            <a:off x="10753144" y="-1328175"/>
            <a:ext cx="3669196" cy="2366702"/>
            <a:chOff x="0" y="0"/>
            <a:chExt cx="543818" cy="3507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8602" y="0"/>
              <a:ext cx="486613" cy="350773"/>
            </a:xfrm>
            <a:custGeom>
              <a:avLst/>
              <a:gdLst/>
              <a:ahLst/>
              <a:cxnLst/>
              <a:rect r="r" b="b" t="t" l="l"/>
              <a:pathLst>
                <a:path h="350773" w="486613">
                  <a:moveTo>
                    <a:pt x="244496" y="0"/>
                  </a:moveTo>
                  <a:lnTo>
                    <a:pt x="38917" y="0"/>
                  </a:lnTo>
                  <a:cubicBezTo>
                    <a:pt x="25004" y="0"/>
                    <a:pt x="12148" y="7428"/>
                    <a:pt x="5200" y="19483"/>
                  </a:cubicBezTo>
                  <a:cubicBezTo>
                    <a:pt x="-1748" y="31538"/>
                    <a:pt x="-1732" y="46385"/>
                    <a:pt x="5243" y="58424"/>
                  </a:cubicBezTo>
                  <a:lnTo>
                    <a:pt x="140753" y="292349"/>
                  </a:lnTo>
                  <a:cubicBezTo>
                    <a:pt x="161701" y="328510"/>
                    <a:pt x="200327" y="350773"/>
                    <a:pt x="242117" y="350773"/>
                  </a:cubicBezTo>
                  <a:lnTo>
                    <a:pt x="447696" y="350773"/>
                  </a:lnTo>
                  <a:cubicBezTo>
                    <a:pt x="461610" y="350773"/>
                    <a:pt x="474466" y="343345"/>
                    <a:pt x="481414" y="331290"/>
                  </a:cubicBezTo>
                  <a:cubicBezTo>
                    <a:pt x="488362" y="319235"/>
                    <a:pt x="488345" y="304388"/>
                    <a:pt x="481371" y="292349"/>
                  </a:cubicBezTo>
                  <a:lnTo>
                    <a:pt x="345860" y="58424"/>
                  </a:lnTo>
                  <a:cubicBezTo>
                    <a:pt x="324913" y="22263"/>
                    <a:pt x="286287" y="0"/>
                    <a:pt x="24449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85725"/>
              <a:ext cx="340618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49450" y="8760916"/>
            <a:ext cx="3965520" cy="2013887"/>
          </a:xfrm>
          <a:custGeom>
            <a:avLst/>
            <a:gdLst/>
            <a:ahLst/>
            <a:cxnLst/>
            <a:rect r="r" b="b" t="t" l="l"/>
            <a:pathLst>
              <a:path h="2013887" w="3965520">
                <a:moveTo>
                  <a:pt x="0" y="0"/>
                </a:moveTo>
                <a:lnTo>
                  <a:pt x="3965520" y="0"/>
                </a:lnTo>
                <a:lnTo>
                  <a:pt x="3965520" y="2013887"/>
                </a:lnTo>
                <a:lnTo>
                  <a:pt x="0" y="2013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6965" b="-142059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7" id="7"/>
          <p:cNvGrpSpPr/>
          <p:nvPr/>
        </p:nvGrpSpPr>
        <p:grpSpPr>
          <a:xfrm rot="0">
            <a:off x="12828775" y="-890570"/>
            <a:ext cx="7606870" cy="9862360"/>
            <a:chOff x="0" y="0"/>
            <a:chExt cx="533385" cy="6915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78" y="0"/>
              <a:ext cx="517714" cy="691537"/>
            </a:xfrm>
            <a:custGeom>
              <a:avLst/>
              <a:gdLst/>
              <a:ahLst/>
              <a:cxnLst/>
              <a:rect r="r" b="b" t="t" l="l"/>
              <a:pathLst>
                <a:path h="691537" w="517714">
                  <a:moveTo>
                    <a:pt x="12813" y="0"/>
                  </a:moveTo>
                  <a:lnTo>
                    <a:pt x="298216" y="0"/>
                  </a:lnTo>
                  <a:cubicBezTo>
                    <a:pt x="312088" y="0"/>
                    <a:pt x="324923" y="7344"/>
                    <a:pt x="331951" y="19304"/>
                  </a:cubicBezTo>
                  <a:lnTo>
                    <a:pt x="512462" y="326465"/>
                  </a:lnTo>
                  <a:cubicBezTo>
                    <a:pt x="519465" y="338381"/>
                    <a:pt x="519465" y="353156"/>
                    <a:pt x="512462" y="365072"/>
                  </a:cubicBezTo>
                  <a:lnTo>
                    <a:pt x="331951" y="672233"/>
                  </a:lnTo>
                  <a:cubicBezTo>
                    <a:pt x="324923" y="684192"/>
                    <a:pt x="312088" y="691537"/>
                    <a:pt x="298216" y="691537"/>
                  </a:cubicBezTo>
                  <a:lnTo>
                    <a:pt x="12813" y="691537"/>
                  </a:lnTo>
                  <a:cubicBezTo>
                    <a:pt x="8218" y="691537"/>
                    <a:pt x="3974" y="689076"/>
                    <a:pt x="1692" y="685088"/>
                  </a:cubicBezTo>
                  <a:cubicBezTo>
                    <a:pt x="-590" y="681100"/>
                    <a:pt x="-562" y="676195"/>
                    <a:pt x="1766" y="672233"/>
                  </a:cubicBezTo>
                  <a:lnTo>
                    <a:pt x="182278" y="365072"/>
                  </a:lnTo>
                  <a:cubicBezTo>
                    <a:pt x="189281" y="353156"/>
                    <a:pt x="189281" y="338381"/>
                    <a:pt x="182278" y="326465"/>
                  </a:cubicBezTo>
                  <a:lnTo>
                    <a:pt x="1766" y="19304"/>
                  </a:lnTo>
                  <a:cubicBezTo>
                    <a:pt x="-562" y="15342"/>
                    <a:pt x="-590" y="10437"/>
                    <a:pt x="1692" y="6449"/>
                  </a:cubicBezTo>
                  <a:cubicBezTo>
                    <a:pt x="3974" y="2461"/>
                    <a:pt x="8218" y="0"/>
                    <a:pt x="12813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85725"/>
              <a:ext cx="279385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49450" y="-890570"/>
            <a:ext cx="7295036" cy="6269172"/>
            <a:chOff x="0" y="0"/>
            <a:chExt cx="8128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298" y="0"/>
              <a:ext cx="800204" cy="698500"/>
            </a:xfrm>
            <a:custGeom>
              <a:avLst/>
              <a:gdLst/>
              <a:ahLst/>
              <a:cxnLst/>
              <a:rect r="r" b="b" t="t" l="l"/>
              <a:pathLst>
                <a:path h="698500" w="800204">
                  <a:moveTo>
                    <a:pt x="794761" y="369431"/>
                  </a:moveTo>
                  <a:lnTo>
                    <a:pt x="615043" y="678319"/>
                  </a:lnTo>
                  <a:cubicBezTo>
                    <a:pt x="607774" y="690814"/>
                    <a:pt x="594409" y="698500"/>
                    <a:pt x="579954" y="698500"/>
                  </a:cubicBezTo>
                  <a:lnTo>
                    <a:pt x="220250" y="698500"/>
                  </a:lnTo>
                  <a:cubicBezTo>
                    <a:pt x="205795" y="698500"/>
                    <a:pt x="192430" y="690814"/>
                    <a:pt x="185161" y="678319"/>
                  </a:cubicBezTo>
                  <a:lnTo>
                    <a:pt x="5443" y="369431"/>
                  </a:lnTo>
                  <a:cubicBezTo>
                    <a:pt x="-1815" y="356956"/>
                    <a:pt x="-1815" y="341544"/>
                    <a:pt x="5443" y="329069"/>
                  </a:cubicBezTo>
                  <a:lnTo>
                    <a:pt x="185161" y="20181"/>
                  </a:lnTo>
                  <a:cubicBezTo>
                    <a:pt x="192430" y="7686"/>
                    <a:pt x="205795" y="0"/>
                    <a:pt x="220250" y="0"/>
                  </a:cubicBezTo>
                  <a:lnTo>
                    <a:pt x="579954" y="0"/>
                  </a:lnTo>
                  <a:cubicBezTo>
                    <a:pt x="594409" y="0"/>
                    <a:pt x="607774" y="7686"/>
                    <a:pt x="615043" y="20181"/>
                  </a:cubicBezTo>
                  <a:lnTo>
                    <a:pt x="794761" y="329069"/>
                  </a:lnTo>
                  <a:cubicBezTo>
                    <a:pt x="802019" y="341544"/>
                    <a:pt x="802019" y="356956"/>
                    <a:pt x="794761" y="369431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12168" y="9981318"/>
            <a:ext cx="5438931" cy="1121747"/>
            <a:chOff x="0" y="0"/>
            <a:chExt cx="1700767" cy="3507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3266" y="0"/>
              <a:ext cx="1674236" cy="350773"/>
            </a:xfrm>
            <a:custGeom>
              <a:avLst/>
              <a:gdLst/>
              <a:ahLst/>
              <a:cxnLst/>
              <a:rect r="r" b="b" t="t" l="l"/>
              <a:pathLst>
                <a:path h="350773" w="1674236">
                  <a:moveTo>
                    <a:pt x="1452986" y="0"/>
                  </a:moveTo>
                  <a:lnTo>
                    <a:pt x="18049" y="0"/>
                  </a:lnTo>
                  <a:cubicBezTo>
                    <a:pt x="11596" y="0"/>
                    <a:pt x="5634" y="3445"/>
                    <a:pt x="2411" y="9036"/>
                  </a:cubicBezTo>
                  <a:cubicBezTo>
                    <a:pt x="-811" y="14627"/>
                    <a:pt x="-804" y="21513"/>
                    <a:pt x="2431" y="27097"/>
                  </a:cubicBezTo>
                  <a:lnTo>
                    <a:pt x="174237" y="323676"/>
                  </a:lnTo>
                  <a:cubicBezTo>
                    <a:pt x="183952" y="340447"/>
                    <a:pt x="201867" y="350773"/>
                    <a:pt x="221249" y="350773"/>
                  </a:cubicBezTo>
                  <a:lnTo>
                    <a:pt x="1656186" y="350773"/>
                  </a:lnTo>
                  <a:cubicBezTo>
                    <a:pt x="1662639" y="350773"/>
                    <a:pt x="1668601" y="347328"/>
                    <a:pt x="1671824" y="341737"/>
                  </a:cubicBezTo>
                  <a:cubicBezTo>
                    <a:pt x="1675046" y="336146"/>
                    <a:pt x="1675039" y="329260"/>
                    <a:pt x="1671804" y="323676"/>
                  </a:cubicBezTo>
                  <a:lnTo>
                    <a:pt x="1499998" y="27097"/>
                  </a:lnTo>
                  <a:cubicBezTo>
                    <a:pt x="1490283" y="10326"/>
                    <a:pt x="1472368" y="0"/>
                    <a:pt x="1452986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85725"/>
              <a:ext cx="1497567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2962371" y="74188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2064034" y="9726127"/>
            <a:ext cx="5438931" cy="1121747"/>
            <a:chOff x="0" y="0"/>
            <a:chExt cx="1700767" cy="3507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3266" y="0"/>
              <a:ext cx="1674236" cy="350773"/>
            </a:xfrm>
            <a:custGeom>
              <a:avLst/>
              <a:gdLst/>
              <a:ahLst/>
              <a:cxnLst/>
              <a:rect r="r" b="b" t="t" l="l"/>
              <a:pathLst>
                <a:path h="350773" w="1674236">
                  <a:moveTo>
                    <a:pt x="1452986" y="0"/>
                  </a:moveTo>
                  <a:lnTo>
                    <a:pt x="18049" y="0"/>
                  </a:lnTo>
                  <a:cubicBezTo>
                    <a:pt x="11596" y="0"/>
                    <a:pt x="5634" y="3445"/>
                    <a:pt x="2411" y="9036"/>
                  </a:cubicBezTo>
                  <a:cubicBezTo>
                    <a:pt x="-811" y="14627"/>
                    <a:pt x="-804" y="21513"/>
                    <a:pt x="2431" y="27097"/>
                  </a:cubicBezTo>
                  <a:lnTo>
                    <a:pt x="174237" y="323676"/>
                  </a:lnTo>
                  <a:cubicBezTo>
                    <a:pt x="183952" y="340447"/>
                    <a:pt x="201867" y="350773"/>
                    <a:pt x="221249" y="350773"/>
                  </a:cubicBezTo>
                  <a:lnTo>
                    <a:pt x="1656186" y="350773"/>
                  </a:lnTo>
                  <a:cubicBezTo>
                    <a:pt x="1662639" y="350773"/>
                    <a:pt x="1668601" y="347328"/>
                    <a:pt x="1671824" y="341737"/>
                  </a:cubicBezTo>
                  <a:cubicBezTo>
                    <a:pt x="1675046" y="336146"/>
                    <a:pt x="1675039" y="329260"/>
                    <a:pt x="1671804" y="323676"/>
                  </a:cubicBezTo>
                  <a:lnTo>
                    <a:pt x="1499998" y="27097"/>
                  </a:lnTo>
                  <a:cubicBezTo>
                    <a:pt x="1490283" y="10326"/>
                    <a:pt x="1472368" y="0"/>
                    <a:pt x="145298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85725"/>
              <a:ext cx="1497567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3400424" y="0"/>
            <a:ext cx="6108877" cy="1384761"/>
            <a:chOff x="0" y="0"/>
            <a:chExt cx="1541443" cy="3494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7225" y="0"/>
              <a:ext cx="1506993" cy="349414"/>
            </a:xfrm>
            <a:custGeom>
              <a:avLst/>
              <a:gdLst/>
              <a:ahLst/>
              <a:cxnLst/>
              <a:rect r="r" b="b" t="t" l="l"/>
              <a:pathLst>
                <a:path h="349414" w="1506993">
                  <a:moveTo>
                    <a:pt x="226529" y="0"/>
                  </a:moveTo>
                  <a:lnTo>
                    <a:pt x="1483664" y="0"/>
                  </a:lnTo>
                  <a:cubicBezTo>
                    <a:pt x="1492011" y="0"/>
                    <a:pt x="1499723" y="4460"/>
                    <a:pt x="1503886" y="11696"/>
                  </a:cubicBezTo>
                  <a:cubicBezTo>
                    <a:pt x="1508048" y="18932"/>
                    <a:pt x="1508027" y="27841"/>
                    <a:pt x="1503831" y="35057"/>
                  </a:cubicBezTo>
                  <a:lnTo>
                    <a:pt x="1341405" y="314357"/>
                  </a:lnTo>
                  <a:cubicBezTo>
                    <a:pt x="1328783" y="336061"/>
                    <a:pt x="1305571" y="349414"/>
                    <a:pt x="1280464" y="349414"/>
                  </a:cubicBezTo>
                  <a:lnTo>
                    <a:pt x="23329" y="349414"/>
                  </a:lnTo>
                  <a:cubicBezTo>
                    <a:pt x="14982" y="349414"/>
                    <a:pt x="7270" y="344954"/>
                    <a:pt x="3107" y="337718"/>
                  </a:cubicBezTo>
                  <a:cubicBezTo>
                    <a:pt x="-1055" y="330482"/>
                    <a:pt x="-1034" y="321573"/>
                    <a:pt x="3162" y="314357"/>
                  </a:cubicBezTo>
                  <a:lnTo>
                    <a:pt x="165588" y="35057"/>
                  </a:lnTo>
                  <a:cubicBezTo>
                    <a:pt x="178210" y="13353"/>
                    <a:pt x="201422" y="0"/>
                    <a:pt x="226529" y="0"/>
                  </a:cubicBezTo>
                  <a:close/>
                </a:path>
              </a:pathLst>
            </a:custGeom>
            <a:solidFill>
              <a:srgbClr val="ECEDEE">
                <a:alpha val="5098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85725"/>
              <a:ext cx="1338243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345985" y="-1512929"/>
            <a:ext cx="4348683" cy="1969319"/>
            <a:chOff x="0" y="0"/>
            <a:chExt cx="1527063" cy="6915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4370" y="0"/>
              <a:ext cx="1487192" cy="691537"/>
            </a:xfrm>
            <a:custGeom>
              <a:avLst/>
              <a:gdLst/>
              <a:ahLst/>
              <a:cxnLst/>
              <a:rect r="r" b="b" t="t" l="l"/>
              <a:pathLst>
                <a:path h="691537" w="1487192">
                  <a:moveTo>
                    <a:pt x="32599" y="0"/>
                  </a:moveTo>
                  <a:lnTo>
                    <a:pt x="1242524" y="0"/>
                  </a:lnTo>
                  <a:cubicBezTo>
                    <a:pt x="1277818" y="0"/>
                    <a:pt x="1310475" y="18687"/>
                    <a:pt x="1328357" y="49116"/>
                  </a:cubicBezTo>
                  <a:lnTo>
                    <a:pt x="1473829" y="296653"/>
                  </a:lnTo>
                  <a:cubicBezTo>
                    <a:pt x="1491647" y="326972"/>
                    <a:pt x="1491647" y="364564"/>
                    <a:pt x="1473829" y="394884"/>
                  </a:cubicBezTo>
                  <a:lnTo>
                    <a:pt x="1328357" y="642421"/>
                  </a:lnTo>
                  <a:cubicBezTo>
                    <a:pt x="1310475" y="672850"/>
                    <a:pt x="1277818" y="691537"/>
                    <a:pt x="1242524" y="691537"/>
                  </a:cubicBezTo>
                  <a:lnTo>
                    <a:pt x="32599" y="691537"/>
                  </a:lnTo>
                  <a:cubicBezTo>
                    <a:pt x="20908" y="691537"/>
                    <a:pt x="10112" y="685276"/>
                    <a:pt x="4305" y="675128"/>
                  </a:cubicBezTo>
                  <a:cubicBezTo>
                    <a:pt x="-1502" y="664981"/>
                    <a:pt x="-1429" y="652501"/>
                    <a:pt x="4494" y="642421"/>
                  </a:cubicBezTo>
                  <a:lnTo>
                    <a:pt x="149966" y="394884"/>
                  </a:lnTo>
                  <a:cubicBezTo>
                    <a:pt x="167784" y="364564"/>
                    <a:pt x="167784" y="326972"/>
                    <a:pt x="149966" y="296653"/>
                  </a:cubicBezTo>
                  <a:lnTo>
                    <a:pt x="4494" y="49116"/>
                  </a:lnTo>
                  <a:cubicBezTo>
                    <a:pt x="-1429" y="39036"/>
                    <a:pt x="-1502" y="26556"/>
                    <a:pt x="4305" y="16408"/>
                  </a:cubicBezTo>
                  <a:cubicBezTo>
                    <a:pt x="10112" y="6261"/>
                    <a:pt x="20908" y="0"/>
                    <a:pt x="32599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-85725"/>
              <a:ext cx="1273063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633714" y="1859706"/>
            <a:ext cx="776385" cy="768621"/>
          </a:xfrm>
          <a:custGeom>
            <a:avLst/>
            <a:gdLst/>
            <a:ahLst/>
            <a:cxnLst/>
            <a:rect r="r" b="b" t="t" l="l"/>
            <a:pathLst>
              <a:path h="768621" w="776385">
                <a:moveTo>
                  <a:pt x="0" y="0"/>
                </a:moveTo>
                <a:lnTo>
                  <a:pt x="776385" y="0"/>
                </a:lnTo>
                <a:lnTo>
                  <a:pt x="776385" y="768621"/>
                </a:lnTo>
                <a:lnTo>
                  <a:pt x="0" y="7686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3598800">
            <a:off x="13612821" y="21894"/>
            <a:ext cx="910649" cy="910649"/>
          </a:xfrm>
          <a:custGeom>
            <a:avLst/>
            <a:gdLst/>
            <a:ahLst/>
            <a:cxnLst/>
            <a:rect r="r" b="b" t="t" l="l"/>
            <a:pathLst>
              <a:path h="910649" w="910649">
                <a:moveTo>
                  <a:pt x="0" y="0"/>
                </a:moveTo>
                <a:lnTo>
                  <a:pt x="910649" y="0"/>
                </a:lnTo>
                <a:lnTo>
                  <a:pt x="910649" y="910649"/>
                </a:lnTo>
                <a:lnTo>
                  <a:pt x="0" y="9106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604869" y="-528269"/>
            <a:ext cx="4028845" cy="2549296"/>
          </a:xfrm>
          <a:custGeom>
            <a:avLst/>
            <a:gdLst/>
            <a:ahLst/>
            <a:cxnLst/>
            <a:rect r="r" b="b" t="t" l="l"/>
            <a:pathLst>
              <a:path h="2549296" w="4028845">
                <a:moveTo>
                  <a:pt x="0" y="0"/>
                </a:moveTo>
                <a:lnTo>
                  <a:pt x="4028845" y="0"/>
                </a:lnTo>
                <a:lnTo>
                  <a:pt x="4028845" y="2549296"/>
                </a:lnTo>
                <a:lnTo>
                  <a:pt x="0" y="25492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80872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251784" t="-261457" r="-92831" b="-825712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338537" y="536401"/>
            <a:ext cx="6309570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spc="-384">
                <a:solidFill>
                  <a:srgbClr val="1C1C1C"/>
                </a:solidFill>
                <a:latin typeface="Helvetica Now"/>
                <a:ea typeface="Helvetica Now"/>
                <a:cs typeface="Helvetica Now"/>
                <a:sym typeface="Helvetica Now"/>
              </a:rPr>
              <a:t>PEMBAHASAN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4669" y="1437587"/>
            <a:ext cx="12763477" cy="812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7"/>
              </a:lnSpc>
            </a:pPr>
            <a:r>
              <a:rPr lang="en-US" sz="2692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Sk</a:t>
            </a:r>
            <a:r>
              <a:rPr lang="en-US" sz="2692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enario 1 → Baseline</a:t>
            </a:r>
          </a:p>
          <a:p>
            <a:pPr algn="l" marL="581238" indent="-290619" lvl="1">
              <a:lnSpc>
                <a:spcPts val="4307"/>
              </a:lnSpc>
              <a:buFont typeface="Arial"/>
              <a:buChar char="•"/>
            </a:pP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Menghasilkan accuracy 84,38%</a:t>
            </a:r>
          </a:p>
          <a:p>
            <a:pPr algn="l" marL="581238" indent="-290619" lvl="1">
              <a:lnSpc>
                <a:spcPts val="4307"/>
              </a:lnSpc>
              <a:buFont typeface="Arial"/>
              <a:buChar char="•"/>
            </a:pP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Model sudah mampu mengenali empat kelas sampah.</a:t>
            </a:r>
          </a:p>
          <a:p>
            <a:pPr algn="l">
              <a:lnSpc>
                <a:spcPts val="4307"/>
              </a:lnSpc>
            </a:pPr>
            <a:r>
              <a:rPr lang="en-US" sz="2692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Skenario 2 → Augmentation</a:t>
            </a:r>
          </a:p>
          <a:p>
            <a:pPr algn="l" marL="581238" indent="-290619" lvl="1">
              <a:lnSpc>
                <a:spcPts val="4307"/>
              </a:lnSpc>
              <a:buFont typeface="Arial"/>
              <a:buChar char="•"/>
            </a:pP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Accuracy tetap 84,38%</a:t>
            </a:r>
          </a:p>
          <a:p>
            <a:pPr algn="l" marL="581238" indent="-290619" lvl="1">
              <a:lnSpc>
                <a:spcPts val="4307"/>
              </a:lnSpc>
              <a:buFont typeface="Arial"/>
              <a:buChar char="•"/>
            </a:pP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Penambahan a</a:t>
            </a: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ugmentation belum memberikan peningkatan accuracy pada eksperimen ini.</a:t>
            </a:r>
          </a:p>
          <a:p>
            <a:pPr algn="l">
              <a:lnSpc>
                <a:spcPts val="4307"/>
              </a:lnSpc>
            </a:pPr>
            <a:r>
              <a:rPr lang="en-US" sz="2692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Skenario 3 → Augmentation + Dropout</a:t>
            </a:r>
          </a:p>
          <a:p>
            <a:pPr algn="l" marL="581238" indent="-290619" lvl="1">
              <a:lnSpc>
                <a:spcPts val="4307"/>
              </a:lnSpc>
              <a:buFont typeface="Arial"/>
              <a:buChar char="•"/>
            </a:pP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Accuracy meningkat menjadi 87,50%</a:t>
            </a:r>
          </a:p>
          <a:p>
            <a:pPr algn="l" marL="581238" indent="-290619" lvl="1">
              <a:lnSpc>
                <a:spcPts val="4307"/>
              </a:lnSpc>
              <a:buFont typeface="Arial"/>
              <a:buChar char="•"/>
            </a:pP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F1-score meningkat dari 84,03% → 87,16%</a:t>
            </a:r>
          </a:p>
          <a:p>
            <a:pPr algn="l" marL="581238" indent="-290619" lvl="1">
              <a:lnSpc>
                <a:spcPts val="4307"/>
              </a:lnSpc>
              <a:buFont typeface="Arial"/>
              <a:buChar char="•"/>
            </a:pP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Menjadi konfigurasi dengan performa pengujian tertinggi.</a:t>
            </a:r>
          </a:p>
          <a:p>
            <a:pPr algn="l">
              <a:lnSpc>
                <a:spcPts val="4307"/>
              </a:lnSpc>
            </a:pPr>
            <a:r>
              <a:rPr lang="en-US" sz="2692" b="true">
                <a:solidFill>
                  <a:srgbClr val="44444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Skenario 4 → Fine-tuning</a:t>
            </a:r>
          </a:p>
          <a:p>
            <a:pPr algn="l" marL="581238" indent="-290619" lvl="1">
              <a:lnSpc>
                <a:spcPts val="4307"/>
              </a:lnSpc>
              <a:buFont typeface="Arial"/>
              <a:buChar char="•"/>
            </a:pP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Accuracy turun menjadi 71,88%</a:t>
            </a:r>
          </a:p>
          <a:p>
            <a:pPr algn="l" marL="581238" indent="-290619" lvl="1">
              <a:lnSpc>
                <a:spcPts val="4307"/>
              </a:lnSpc>
              <a:buFont typeface="Arial"/>
              <a:buChar char="•"/>
            </a:pPr>
            <a:r>
              <a:rPr lang="en-US" sz="2692">
                <a:solidFill>
                  <a:srgbClr val="444444"/>
                </a:solidFill>
                <a:latin typeface="Helvetica Now"/>
                <a:ea typeface="Helvetica Now"/>
                <a:cs typeface="Helvetica Now"/>
                <a:sym typeface="Helvetica Now"/>
              </a:rPr>
              <a:t>Fine-tuning pada konfigurasi yang digunakan belum meningkatkan performa.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30388" y="9877082"/>
            <a:ext cx="4261000" cy="819836"/>
            <a:chOff x="0" y="0"/>
            <a:chExt cx="1823100" cy="3507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23101" cy="350773"/>
            </a:xfrm>
            <a:custGeom>
              <a:avLst/>
              <a:gdLst/>
              <a:ahLst/>
              <a:cxnLst/>
              <a:rect r="r" b="b" t="t" l="l"/>
              <a:pathLst>
                <a:path h="350773" w="1823101">
                  <a:moveTo>
                    <a:pt x="1619900" y="0"/>
                  </a:moveTo>
                  <a:lnTo>
                    <a:pt x="0" y="0"/>
                  </a:lnTo>
                  <a:lnTo>
                    <a:pt x="203200" y="350773"/>
                  </a:lnTo>
                  <a:lnTo>
                    <a:pt x="1823101" y="350773"/>
                  </a:lnTo>
                  <a:lnTo>
                    <a:pt x="1619900" y="0"/>
                  </a:lnTo>
                  <a:close/>
                </a:path>
              </a:pathLst>
            </a:custGeom>
            <a:solidFill>
              <a:srgbClr val="ECEDEE">
                <a:alpha val="3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85725"/>
              <a:ext cx="1619900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442812" y="8788675"/>
            <a:ext cx="13433887" cy="2604226"/>
            <a:chOff x="0" y="0"/>
            <a:chExt cx="1809461" cy="3507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71" y="0"/>
              <a:ext cx="1798720" cy="350773"/>
            </a:xfrm>
            <a:custGeom>
              <a:avLst/>
              <a:gdLst/>
              <a:ahLst/>
              <a:cxnLst/>
              <a:rect r="r" b="b" t="t" l="l"/>
              <a:pathLst>
                <a:path h="350773" w="1798720">
                  <a:moveTo>
                    <a:pt x="1588212" y="0"/>
                  </a:moveTo>
                  <a:lnTo>
                    <a:pt x="7308" y="0"/>
                  </a:lnTo>
                  <a:cubicBezTo>
                    <a:pt x="4695" y="0"/>
                    <a:pt x="2281" y="1395"/>
                    <a:pt x="976" y="3658"/>
                  </a:cubicBezTo>
                  <a:cubicBezTo>
                    <a:pt x="-328" y="5922"/>
                    <a:pt x="-325" y="8710"/>
                    <a:pt x="984" y="10971"/>
                  </a:cubicBezTo>
                  <a:lnTo>
                    <a:pt x="191474" y="339802"/>
                  </a:lnTo>
                  <a:cubicBezTo>
                    <a:pt x="195407" y="346593"/>
                    <a:pt x="202660" y="350773"/>
                    <a:pt x="210508" y="350773"/>
                  </a:cubicBezTo>
                  <a:lnTo>
                    <a:pt x="1791412" y="350773"/>
                  </a:lnTo>
                  <a:cubicBezTo>
                    <a:pt x="1794024" y="350773"/>
                    <a:pt x="1796438" y="349378"/>
                    <a:pt x="1797743" y="347115"/>
                  </a:cubicBezTo>
                  <a:cubicBezTo>
                    <a:pt x="1799048" y="344851"/>
                    <a:pt x="1799045" y="342063"/>
                    <a:pt x="1797735" y="339802"/>
                  </a:cubicBezTo>
                  <a:lnTo>
                    <a:pt x="1607245" y="10971"/>
                  </a:lnTo>
                  <a:cubicBezTo>
                    <a:pt x="1603312" y="4180"/>
                    <a:pt x="1596059" y="0"/>
                    <a:pt x="1588212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85725"/>
              <a:ext cx="1606261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17880" y="3658888"/>
            <a:ext cx="7824461" cy="6724146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872" y="0"/>
              <a:ext cx="801057" cy="698500"/>
            </a:xfrm>
            <a:custGeom>
              <a:avLst/>
              <a:gdLst/>
              <a:ahLst/>
              <a:cxnLst/>
              <a:rect r="r" b="b" t="t" l="l"/>
              <a:pathLst>
                <a:path h="698500" w="801057">
                  <a:moveTo>
                    <a:pt x="795981" y="368065"/>
                  </a:moveTo>
                  <a:lnTo>
                    <a:pt x="614675" y="679685"/>
                  </a:lnTo>
                  <a:cubicBezTo>
                    <a:pt x="607897" y="691334"/>
                    <a:pt x="595437" y="698500"/>
                    <a:pt x="581960" y="698500"/>
                  </a:cubicBezTo>
                  <a:lnTo>
                    <a:pt x="219096" y="698500"/>
                  </a:lnTo>
                  <a:cubicBezTo>
                    <a:pt x="205619" y="698500"/>
                    <a:pt x="193159" y="691334"/>
                    <a:pt x="186381" y="679685"/>
                  </a:cubicBezTo>
                  <a:lnTo>
                    <a:pt x="5075" y="368065"/>
                  </a:lnTo>
                  <a:cubicBezTo>
                    <a:pt x="-1692" y="356434"/>
                    <a:pt x="-1692" y="342066"/>
                    <a:pt x="5075" y="330435"/>
                  </a:cubicBezTo>
                  <a:lnTo>
                    <a:pt x="186381" y="18815"/>
                  </a:lnTo>
                  <a:cubicBezTo>
                    <a:pt x="193159" y="7166"/>
                    <a:pt x="205619" y="0"/>
                    <a:pt x="219096" y="0"/>
                  </a:cubicBezTo>
                  <a:lnTo>
                    <a:pt x="581960" y="0"/>
                  </a:lnTo>
                  <a:cubicBezTo>
                    <a:pt x="595437" y="0"/>
                    <a:pt x="607897" y="7166"/>
                    <a:pt x="614675" y="18815"/>
                  </a:cubicBezTo>
                  <a:lnTo>
                    <a:pt x="795981" y="330435"/>
                  </a:lnTo>
                  <a:cubicBezTo>
                    <a:pt x="802748" y="342066"/>
                    <a:pt x="802748" y="356434"/>
                    <a:pt x="795981" y="368065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4088" y="-409918"/>
            <a:ext cx="4261000" cy="819836"/>
            <a:chOff x="0" y="0"/>
            <a:chExt cx="1823100" cy="3507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933" y="0"/>
              <a:ext cx="1789234" cy="350773"/>
            </a:xfrm>
            <a:custGeom>
              <a:avLst/>
              <a:gdLst/>
              <a:ahLst/>
              <a:cxnLst/>
              <a:rect r="r" b="b" t="t" l="l"/>
              <a:pathLst>
                <a:path h="350773" w="1789234">
                  <a:moveTo>
                    <a:pt x="1562995" y="0"/>
                  </a:moveTo>
                  <a:lnTo>
                    <a:pt x="23039" y="0"/>
                  </a:lnTo>
                  <a:cubicBezTo>
                    <a:pt x="14802" y="0"/>
                    <a:pt x="7192" y="4398"/>
                    <a:pt x="3078" y="11534"/>
                  </a:cubicBezTo>
                  <a:cubicBezTo>
                    <a:pt x="-1035" y="18671"/>
                    <a:pt x="-1025" y="27460"/>
                    <a:pt x="3104" y="34588"/>
                  </a:cubicBezTo>
                  <a:lnTo>
                    <a:pt x="166230" y="316185"/>
                  </a:lnTo>
                  <a:cubicBezTo>
                    <a:pt x="178632" y="337593"/>
                    <a:pt x="201499" y="350773"/>
                    <a:pt x="226239" y="350773"/>
                  </a:cubicBezTo>
                  <a:lnTo>
                    <a:pt x="1766195" y="350773"/>
                  </a:lnTo>
                  <a:cubicBezTo>
                    <a:pt x="1774432" y="350773"/>
                    <a:pt x="1782043" y="346375"/>
                    <a:pt x="1786156" y="339239"/>
                  </a:cubicBezTo>
                  <a:cubicBezTo>
                    <a:pt x="1790269" y="332102"/>
                    <a:pt x="1790260" y="323313"/>
                    <a:pt x="1786131" y="316185"/>
                  </a:cubicBezTo>
                  <a:lnTo>
                    <a:pt x="1623004" y="34588"/>
                  </a:lnTo>
                  <a:cubicBezTo>
                    <a:pt x="1610603" y="13180"/>
                    <a:pt x="1587736" y="0"/>
                    <a:pt x="1562995" y="0"/>
                  </a:cubicBezTo>
                  <a:close/>
                </a:path>
              </a:pathLst>
            </a:custGeom>
            <a:solidFill>
              <a:srgbClr val="ECEDE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85725"/>
              <a:ext cx="1619900" cy="43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61199" y="-2935457"/>
            <a:ext cx="7168912" cy="8078957"/>
            <a:chOff x="0" y="0"/>
            <a:chExt cx="613639" cy="6915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0163" y="0"/>
              <a:ext cx="597012" cy="691537"/>
            </a:xfrm>
            <a:custGeom>
              <a:avLst/>
              <a:gdLst/>
              <a:ahLst/>
              <a:cxnLst/>
              <a:rect r="r" b="b" t="t" l="l"/>
              <a:pathLst>
                <a:path h="691537" w="597012">
                  <a:moveTo>
                    <a:pt x="13595" y="0"/>
                  </a:moveTo>
                  <a:lnTo>
                    <a:pt x="376518" y="0"/>
                  </a:lnTo>
                  <a:cubicBezTo>
                    <a:pt x="391237" y="0"/>
                    <a:pt x="404856" y="7793"/>
                    <a:pt x="412314" y="20483"/>
                  </a:cubicBezTo>
                  <a:lnTo>
                    <a:pt x="591439" y="325285"/>
                  </a:lnTo>
                  <a:cubicBezTo>
                    <a:pt x="598870" y="337930"/>
                    <a:pt x="598870" y="353607"/>
                    <a:pt x="591439" y="366252"/>
                  </a:cubicBezTo>
                  <a:lnTo>
                    <a:pt x="412314" y="671054"/>
                  </a:lnTo>
                  <a:cubicBezTo>
                    <a:pt x="404856" y="683744"/>
                    <a:pt x="391237" y="691537"/>
                    <a:pt x="376518" y="691537"/>
                  </a:cubicBezTo>
                  <a:lnTo>
                    <a:pt x="13595" y="691537"/>
                  </a:lnTo>
                  <a:cubicBezTo>
                    <a:pt x="8720" y="691537"/>
                    <a:pt x="4217" y="688926"/>
                    <a:pt x="1796" y="684694"/>
                  </a:cubicBezTo>
                  <a:cubicBezTo>
                    <a:pt x="-626" y="680462"/>
                    <a:pt x="-596" y="675257"/>
                    <a:pt x="1875" y="671054"/>
                  </a:cubicBezTo>
                  <a:lnTo>
                    <a:pt x="180999" y="366252"/>
                  </a:lnTo>
                  <a:cubicBezTo>
                    <a:pt x="188430" y="353607"/>
                    <a:pt x="188430" y="337930"/>
                    <a:pt x="180999" y="325285"/>
                  </a:cubicBezTo>
                  <a:lnTo>
                    <a:pt x="1875" y="20483"/>
                  </a:lnTo>
                  <a:cubicBezTo>
                    <a:pt x="-596" y="16280"/>
                    <a:pt x="-626" y="11075"/>
                    <a:pt x="1796" y="6843"/>
                  </a:cubicBezTo>
                  <a:cubicBezTo>
                    <a:pt x="4217" y="2611"/>
                    <a:pt x="8720" y="0"/>
                    <a:pt x="13595" y="0"/>
                  </a:cubicBezTo>
                  <a:close/>
                </a:path>
              </a:pathLst>
            </a:custGeom>
            <a:solidFill>
              <a:srgbClr val="67898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85725"/>
              <a:ext cx="359639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514590" y="3429606"/>
            <a:ext cx="0" cy="3015946"/>
          </a:xfrm>
          <a:prstGeom prst="line">
            <a:avLst/>
          </a:prstGeom>
          <a:ln cap="flat" w="47625">
            <a:solidFill>
              <a:srgbClr val="5475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6753900" y="3907639"/>
            <a:ext cx="7144322" cy="6139652"/>
            <a:chOff x="0" y="0"/>
            <a:chExt cx="812800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431" y="0"/>
              <a:ext cx="799939" cy="698500"/>
            </a:xfrm>
            <a:custGeom>
              <a:avLst/>
              <a:gdLst/>
              <a:ahLst/>
              <a:cxnLst/>
              <a:rect r="r" b="b" t="t" l="l"/>
              <a:pathLst>
                <a:path h="698500" w="799939">
                  <a:moveTo>
                    <a:pt x="794380" y="369856"/>
                  </a:moveTo>
                  <a:lnTo>
                    <a:pt x="615158" y="677894"/>
                  </a:lnTo>
                  <a:cubicBezTo>
                    <a:pt x="607735" y="690652"/>
                    <a:pt x="594089" y="698500"/>
                    <a:pt x="579329" y="698500"/>
                  </a:cubicBezTo>
                  <a:lnTo>
                    <a:pt x="220609" y="698500"/>
                  </a:lnTo>
                  <a:cubicBezTo>
                    <a:pt x="205849" y="698500"/>
                    <a:pt x="192203" y="690652"/>
                    <a:pt x="184780" y="677894"/>
                  </a:cubicBezTo>
                  <a:lnTo>
                    <a:pt x="5558" y="369856"/>
                  </a:lnTo>
                  <a:cubicBezTo>
                    <a:pt x="-1853" y="357118"/>
                    <a:pt x="-1853" y="341382"/>
                    <a:pt x="5558" y="328644"/>
                  </a:cubicBezTo>
                  <a:lnTo>
                    <a:pt x="184780" y="20606"/>
                  </a:lnTo>
                  <a:cubicBezTo>
                    <a:pt x="192203" y="7848"/>
                    <a:pt x="205849" y="0"/>
                    <a:pt x="220609" y="0"/>
                  </a:cubicBezTo>
                  <a:lnTo>
                    <a:pt x="579329" y="0"/>
                  </a:lnTo>
                  <a:cubicBezTo>
                    <a:pt x="594089" y="0"/>
                    <a:pt x="607735" y="7848"/>
                    <a:pt x="615158" y="20606"/>
                  </a:cubicBezTo>
                  <a:lnTo>
                    <a:pt x="794380" y="328644"/>
                  </a:lnTo>
                  <a:cubicBezTo>
                    <a:pt x="801791" y="341382"/>
                    <a:pt x="801791" y="357118"/>
                    <a:pt x="794380" y="369856"/>
                  </a:cubicBezTo>
                  <a:close/>
                </a:path>
              </a:pathLst>
            </a:custGeom>
            <a:solidFill>
              <a:srgbClr val="F3AC3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85725"/>
              <a:ext cx="5842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6057949" y="7759694"/>
            <a:ext cx="3889899" cy="3904541"/>
          </a:xfrm>
          <a:custGeom>
            <a:avLst/>
            <a:gdLst/>
            <a:ahLst/>
            <a:cxnLst/>
            <a:rect r="r" b="b" t="t" l="l"/>
            <a:pathLst>
              <a:path h="3904541" w="3889899">
                <a:moveTo>
                  <a:pt x="0" y="0"/>
                </a:moveTo>
                <a:lnTo>
                  <a:pt x="3889900" y="0"/>
                </a:lnTo>
                <a:lnTo>
                  <a:pt x="3889900" y="3904542"/>
                </a:lnTo>
                <a:lnTo>
                  <a:pt x="0" y="3904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3" id="23"/>
          <p:cNvGrpSpPr/>
          <p:nvPr/>
        </p:nvGrpSpPr>
        <p:grpSpPr>
          <a:xfrm rot="0">
            <a:off x="-583415" y="-1069442"/>
            <a:ext cx="6108877" cy="1384761"/>
            <a:chOff x="0" y="0"/>
            <a:chExt cx="1541443" cy="3494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7225" y="0"/>
              <a:ext cx="1506993" cy="349414"/>
            </a:xfrm>
            <a:custGeom>
              <a:avLst/>
              <a:gdLst/>
              <a:ahLst/>
              <a:cxnLst/>
              <a:rect r="r" b="b" t="t" l="l"/>
              <a:pathLst>
                <a:path h="349414" w="1506993">
                  <a:moveTo>
                    <a:pt x="226529" y="0"/>
                  </a:moveTo>
                  <a:lnTo>
                    <a:pt x="1483664" y="0"/>
                  </a:lnTo>
                  <a:cubicBezTo>
                    <a:pt x="1492011" y="0"/>
                    <a:pt x="1499723" y="4460"/>
                    <a:pt x="1503886" y="11696"/>
                  </a:cubicBezTo>
                  <a:cubicBezTo>
                    <a:pt x="1508048" y="18932"/>
                    <a:pt x="1508027" y="27841"/>
                    <a:pt x="1503831" y="35057"/>
                  </a:cubicBezTo>
                  <a:lnTo>
                    <a:pt x="1341405" y="314357"/>
                  </a:lnTo>
                  <a:cubicBezTo>
                    <a:pt x="1328783" y="336061"/>
                    <a:pt x="1305571" y="349414"/>
                    <a:pt x="1280464" y="349414"/>
                  </a:cubicBezTo>
                  <a:lnTo>
                    <a:pt x="23329" y="349414"/>
                  </a:lnTo>
                  <a:cubicBezTo>
                    <a:pt x="14982" y="349414"/>
                    <a:pt x="7270" y="344954"/>
                    <a:pt x="3107" y="337718"/>
                  </a:cubicBezTo>
                  <a:cubicBezTo>
                    <a:pt x="-1055" y="330482"/>
                    <a:pt x="-1034" y="321573"/>
                    <a:pt x="3162" y="314357"/>
                  </a:cubicBezTo>
                  <a:lnTo>
                    <a:pt x="165588" y="35057"/>
                  </a:lnTo>
                  <a:cubicBezTo>
                    <a:pt x="178210" y="13353"/>
                    <a:pt x="201422" y="0"/>
                    <a:pt x="226529" y="0"/>
                  </a:cubicBezTo>
                  <a:close/>
                </a:path>
              </a:pathLst>
            </a:custGeom>
            <a:solidFill>
              <a:srgbClr val="ECEDEE">
                <a:alpha val="5098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85725"/>
              <a:ext cx="1338243" cy="43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583415" y="-933728"/>
            <a:ext cx="3362385" cy="1485368"/>
            <a:chOff x="0" y="0"/>
            <a:chExt cx="1565412" cy="6915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1669" y="0"/>
              <a:ext cx="1529960" cy="691537"/>
            </a:xfrm>
            <a:custGeom>
              <a:avLst/>
              <a:gdLst/>
              <a:ahLst/>
              <a:cxnLst/>
              <a:rect r="r" b="b" t="t" l="l"/>
              <a:pathLst>
                <a:path h="691537" w="1529960">
                  <a:moveTo>
                    <a:pt x="28986" y="0"/>
                  </a:moveTo>
                  <a:lnTo>
                    <a:pt x="1289888" y="0"/>
                  </a:lnTo>
                  <a:cubicBezTo>
                    <a:pt x="1321270" y="0"/>
                    <a:pt x="1350307" y="16616"/>
                    <a:pt x="1366208" y="43672"/>
                  </a:cubicBezTo>
                  <a:lnTo>
                    <a:pt x="1518078" y="302096"/>
                  </a:lnTo>
                  <a:cubicBezTo>
                    <a:pt x="1533921" y="329056"/>
                    <a:pt x="1533921" y="362481"/>
                    <a:pt x="1518078" y="389441"/>
                  </a:cubicBezTo>
                  <a:lnTo>
                    <a:pt x="1366208" y="647865"/>
                  </a:lnTo>
                  <a:cubicBezTo>
                    <a:pt x="1350307" y="674921"/>
                    <a:pt x="1321270" y="691537"/>
                    <a:pt x="1289888" y="691537"/>
                  </a:cubicBezTo>
                  <a:lnTo>
                    <a:pt x="28986" y="691537"/>
                  </a:lnTo>
                  <a:cubicBezTo>
                    <a:pt x="18591" y="691537"/>
                    <a:pt x="8991" y="685970"/>
                    <a:pt x="3828" y="676947"/>
                  </a:cubicBezTo>
                  <a:cubicBezTo>
                    <a:pt x="-1335" y="667924"/>
                    <a:pt x="-1271" y="656827"/>
                    <a:pt x="3996" y="647865"/>
                  </a:cubicBezTo>
                  <a:lnTo>
                    <a:pt x="155866" y="389441"/>
                  </a:lnTo>
                  <a:cubicBezTo>
                    <a:pt x="171709" y="362481"/>
                    <a:pt x="171709" y="329056"/>
                    <a:pt x="155866" y="302096"/>
                  </a:cubicBezTo>
                  <a:lnTo>
                    <a:pt x="3996" y="43672"/>
                  </a:lnTo>
                  <a:cubicBezTo>
                    <a:pt x="-1271" y="34710"/>
                    <a:pt x="-1335" y="23613"/>
                    <a:pt x="3828" y="14590"/>
                  </a:cubicBezTo>
                  <a:cubicBezTo>
                    <a:pt x="8991" y="5567"/>
                    <a:pt x="18591" y="0"/>
                    <a:pt x="28986" y="0"/>
                  </a:cubicBezTo>
                  <a:close/>
                </a:path>
              </a:pathLst>
            </a:custGeom>
            <a:solidFill>
              <a:srgbClr val="42616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7800" y="-85725"/>
              <a:ext cx="1311412" cy="777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-1290144" y="0"/>
            <a:ext cx="1645285" cy="335566"/>
          </a:xfrm>
          <a:custGeom>
            <a:avLst/>
            <a:gdLst/>
            <a:ahLst/>
            <a:cxnLst/>
            <a:rect r="r" b="b" t="t" l="l"/>
            <a:pathLst>
              <a:path h="335566" w="1645285">
                <a:moveTo>
                  <a:pt x="0" y="0"/>
                </a:moveTo>
                <a:lnTo>
                  <a:pt x="1645285" y="0"/>
                </a:lnTo>
                <a:lnTo>
                  <a:pt x="1645285" y="335566"/>
                </a:lnTo>
                <a:lnTo>
                  <a:pt x="0" y="335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51784" t="-261457" r="-92831" b="-825712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true" rot="0">
            <a:off x="-172665" y="8850351"/>
            <a:ext cx="1326885" cy="1723227"/>
          </a:xfrm>
          <a:custGeom>
            <a:avLst/>
            <a:gdLst/>
            <a:ahLst/>
            <a:cxnLst/>
            <a:rect r="r" b="b" t="t" l="l"/>
            <a:pathLst>
              <a:path h="1723227" w="1326885">
                <a:moveTo>
                  <a:pt x="1326885" y="1723228"/>
                </a:moveTo>
                <a:lnTo>
                  <a:pt x="0" y="1723228"/>
                </a:lnTo>
                <a:lnTo>
                  <a:pt x="0" y="0"/>
                </a:lnTo>
                <a:lnTo>
                  <a:pt x="1326885" y="0"/>
                </a:lnTo>
                <a:lnTo>
                  <a:pt x="1326885" y="172322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53026" y="2237519"/>
            <a:ext cx="12844300" cy="655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359" indent="-248680" lvl="1">
              <a:lnSpc>
                <a:spcPts val="3455"/>
              </a:lnSpc>
              <a:buAutoNum type="arabicPeriod" startAt="1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MobileN</a:t>
            </a: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etV2 dapat digunakan untuk melakukan klasifikasi 4 kelas citra sampah pada dataset yang digunakan.</a:t>
            </a:r>
          </a:p>
          <a:p>
            <a:pPr algn="l" marL="497359" indent="-248680" lvl="1">
              <a:lnSpc>
                <a:spcPts val="3455"/>
              </a:lnSpc>
              <a:buAutoNum type="arabicPeriod" startAt="1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Eksperimen dilakukan dengan 4 konfigurasi, yaitu:</a:t>
            </a:r>
          </a:p>
          <a:p>
            <a:pPr algn="l" marL="497359" indent="-248680" lvl="1">
              <a:lnSpc>
                <a:spcPts val="3455"/>
              </a:lnSpc>
              <a:buFont typeface="Arial"/>
              <a:buChar char="•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Baseline</a:t>
            </a:r>
          </a:p>
          <a:p>
            <a:pPr algn="l" marL="497359" indent="-248680" lvl="1">
              <a:lnSpc>
                <a:spcPts val="3455"/>
              </a:lnSpc>
              <a:buFont typeface="Arial"/>
              <a:buChar char="•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Augmentation</a:t>
            </a:r>
          </a:p>
          <a:p>
            <a:pPr algn="l" marL="497359" indent="-248680" lvl="1">
              <a:lnSpc>
                <a:spcPts val="3455"/>
              </a:lnSpc>
              <a:buFont typeface="Arial"/>
              <a:buChar char="•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Augmentation + Dropout 0,4</a:t>
            </a:r>
          </a:p>
          <a:p>
            <a:pPr algn="l" marL="497359" indent="-248680" lvl="1">
              <a:lnSpc>
                <a:spcPts val="3455"/>
              </a:lnSpc>
              <a:buFont typeface="Arial"/>
              <a:buChar char="•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Fine-tuning</a:t>
            </a:r>
          </a:p>
          <a:p>
            <a:pPr algn="l" marL="497359" indent="-248680" lvl="1">
              <a:lnSpc>
                <a:spcPts val="3455"/>
              </a:lnSpc>
              <a:buAutoNum type="arabicPeriod" startAt="1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Skenario 3 (Augmentation + Dropout 0,4) menghasilkan metrik pengujian tertinggi:</a:t>
            </a:r>
          </a:p>
          <a:p>
            <a:pPr algn="l" marL="497359" indent="-248680" lvl="1">
              <a:lnSpc>
                <a:spcPts val="3455"/>
              </a:lnSpc>
              <a:buFont typeface="Arial"/>
              <a:buChar char="•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Accuracy 87,50%</a:t>
            </a:r>
          </a:p>
          <a:p>
            <a:pPr algn="l" marL="497359" indent="-248680" lvl="1">
              <a:lnSpc>
                <a:spcPts val="3455"/>
              </a:lnSpc>
              <a:buFont typeface="Arial"/>
              <a:buChar char="•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Precision 90,06%</a:t>
            </a:r>
          </a:p>
          <a:p>
            <a:pPr algn="l" marL="497359" indent="-248680" lvl="1">
              <a:lnSpc>
                <a:spcPts val="3455"/>
              </a:lnSpc>
              <a:buFont typeface="Arial"/>
              <a:buChar char="•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Recall 87,50%</a:t>
            </a:r>
          </a:p>
          <a:p>
            <a:pPr algn="l" marL="497359" indent="-248680" lvl="1">
              <a:lnSpc>
                <a:spcPts val="3455"/>
              </a:lnSpc>
              <a:buFont typeface="Arial"/>
              <a:buChar char="•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F1-Score 87,16%</a:t>
            </a:r>
          </a:p>
          <a:p>
            <a:pPr algn="l" marL="497359" indent="-248680" lvl="1">
              <a:lnSpc>
                <a:spcPts val="3455"/>
              </a:lnSpc>
              <a:buAutoNum type="arabicPeriod" startAt="1"/>
            </a:pPr>
            <a:r>
              <a:rPr lang="en-US" sz="2303">
                <a:solidFill>
                  <a:srgbClr val="444444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Fine-tuning pada konfigurasi yang digunakan menghasilkan accuracy 71,88%, sehingga belum memberikan peningkatan performa pada dataset ini.</a:t>
            </a:r>
          </a:p>
          <a:p>
            <a:pPr algn="l">
              <a:lnSpc>
                <a:spcPts val="3455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389053" y="1005004"/>
            <a:ext cx="8272818" cy="11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9200" spc="-552">
                <a:solidFill>
                  <a:srgbClr val="1C1C1C"/>
                </a:solidFill>
                <a:latin typeface="Helvetica Now"/>
                <a:ea typeface="Helvetica Now"/>
                <a:cs typeface="Helvetica Now"/>
                <a:sym typeface="Helvetica Now"/>
              </a:rPr>
              <a:t>KESIMPULAN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DAHWgZCuOZU</dc:identifier>
  <dcterms:modified xsi:type="dcterms:W3CDTF">2011-08-01T06:04:30Z</dcterms:modified>
  <cp:revision>1</cp:revision>
  <dc:title>DEEP LEARN</dc:title>
</cp:coreProperties>
</file>